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0c1f3b1-9f67-a723-4cb2-bb5184999fc3}">
          <p14:sldIdLst>
            <p14:sldId id="256"/>
          </p14:sldIdLst>
        </p14:section>
        <p14:section name="Background" id="{d7d5a4df-77f4-916d-a7e9-7da488c525f6}">
          <p14:sldIdLst>
            <p14:sldId id="257"/>
            <p14:sldId id="258"/>
          </p14:sldIdLst>
        </p14:section>
        <p14:section name="Proposal" id="{a742b22a-dc63-485c-5653-344ec7da2d98}">
          <p14:sldIdLst>
            <p14:sldId id="259"/>
            <p14:sldId id="260"/>
            <p14:sldId id="261"/>
          </p14:sldIdLst>
        </p14:section>
        <p14:section name="Design" id="{4a35a31d-d4d2-986c-becb-ce2d9ae06e65}">
          <p14:sldIdLst>
            <p14:sldId id="262"/>
            <p14:sldId id="263"/>
            <p14:sldId id="264"/>
            <p14:sldId id="265"/>
          </p14:sldIdLst>
        </p14:section>
        <p14:section name="Plan" id="{2725a358-cf4a-cf45-c365-73f9366c4bc2}">
          <p14:sldIdLst>
            <p14:sldId id="266"/>
            <p14:sldId id="267"/>
          </p14:sldIdLst>
        </p14:section>
        <p14:section name="Outcome" id="{85543a24-3475-c59a-1070-a5c61893fdf4}">
          <p14:sldIdLst>
            <p14:sldId id="268"/>
            <p14:sldId id="269"/>
          </p14:sldIdLst>
        </p14:section>
        <p14:section name="Appendix" id="{a6915440-b178-138e-9de8-edbe36900280}">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project name. One line: PawLens is a cat and dog classifier that also finds the breed, explains its decision with a heatmap, and refuses photos that are not pets.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simple. A CNN looks at small patches of the image and builds up from edges to ears and faces. PawLens uses this to classify cats and dogs, then adds breed detection, explanation and a way to reject non-pet photos.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not that classifying cats and dogs is hard — it is a solved beginner task. The problem is that typical projects stop at a notebook, cannot say 'I don't know', and cannot explain themselves. That is the gap PawLens fills.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objective is measurable, so at the final review we can show proof for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here: automatic image classifiers already exist (Google Photos, Google Lens). What we compare against is the typical student cat/dog project. Our improvements are in the right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features are what separate PawLens from a normal cat/dog classifier. Gate, breed and Grad-CAM are must-haves. Camera and Stress Test Lab are planned extras.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parts. Offline: we train models in Google Colab and save them. Online: the web app sends a photo to the FastAPI server; it runs the gate, then the species and breed models, then Grad-CAM, and returns everything as one JSON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steps. Important point: the test set is kept aside and only used once at the end, so the accuracy we report is fair.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Targets are goals, not results yet. We will replace them with real numbers after training. The custom CNN exists to show how much transfer learning helps.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side is a mock-up of the main result screen: photo with heatmap and a slider to compare, species, and top-3 breed bars. The right side lists the six modules of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happens on Google Colab because it gives a free GPU. The app itself runs on a normal laptop CPU.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build order. If time runs short, the extras in week 8 are the first to drop — the core project still works without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Outcomes are targets we will verify. Future scope is realistic: TensorFlow Lite runs the same model on phones offline.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one-line conclusion, then the three words: accurate, honest, explainable. Then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for building the app. Not needed for the presentation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B1F3B"/>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3" name="Text 0"/>
          <p:cNvSpPr/>
          <p:nvPr/>
        </p:nvSpPr>
        <p:spPr>
          <a:xfrm>
            <a:off x="457200" y="4754880"/>
            <a:ext cx="4572000" cy="274320"/>
          </a:xfrm>
          <a:prstGeom prst="rect">
            <a:avLst/>
          </a:prstGeom>
          <a:noFill/>
          <a:ln/>
        </p:spPr>
        <p:txBody>
          <a:bodyPr wrap="square" lIns="0" tIns="0" rIns="0" bIns="0" rtlCol="0" anchor="ctr"/>
          <a:lstStyle/>
          <a:p>
            <a:pPr indent="0" marL="0">
              <a:buNone/>
            </a:pPr>
            <a:r>
              <a:rPr lang="en-US" sz="900" spc="100" kern="0" dirty="0">
                <a:solidFill>
                  <a:schemeClr val="tx2"/>
                </a:solidFill>
              </a:rPr>
              <a:t>PROJECT-II  |  FIRST PRESENTATION</a:t>
            </a:r>
            <a:endParaRPr lang="en-US" sz="9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3.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3.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457200"/>
            <a:ext cx="50292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PROJECT-II  |  FIRST PRESENTATION</a:t>
            </a:r>
            <a:endParaRPr lang="en-US" sz="1100" dirty="0"/>
          </a:p>
        </p:txBody>
      </p:sp>
      <p:sp>
        <p:nvSpPr>
          <p:cNvPr id="3" name="Text 1"/>
          <p:cNvSpPr txBox="1"/>
          <p:nvPr/>
        </p:nvSpPr>
        <p:spPr>
          <a:xfrm>
            <a:off x="548640" y="777240"/>
            <a:ext cx="5120640" cy="822960"/>
          </a:xfrm>
          <a:prstGeom prst="rect">
            <a:avLst/>
          </a:prstGeom>
          <a:noFill/>
          <a:ln/>
        </p:spPr>
        <p:txBody>
          <a:bodyPr wrap="square" lIns="0" tIns="0" rIns="0" bIns="0" rtlCol="0" anchor="ctr"/>
          <a:lstStyle/>
          <a:p>
            <a:pPr indent="0" marL="0">
              <a:buNone/>
            </a:pPr>
            <a:r>
              <a:rPr lang="en-US" sz="4800" b="1" dirty="0">
                <a:solidFill>
                  <a:schemeClr val="bg1"/>
                </a:solidFill>
                <a:latin typeface="Arial" pitchFamily="34" charset="0"/>
                <a:ea typeface="Arial" pitchFamily="34" charset="-122"/>
                <a:cs typeface="Arial" pitchFamily="34" charset="-120"/>
              </a:rPr>
              <a:t>PawLens</a:t>
            </a:r>
            <a:endParaRPr lang="en-US" sz="4800" dirty="0"/>
          </a:p>
        </p:txBody>
      </p:sp>
      <p:sp>
        <p:nvSpPr>
          <p:cNvPr id="4" name="Text 2"/>
          <p:cNvSpPr txBox="1"/>
          <p:nvPr/>
        </p:nvSpPr>
        <p:spPr>
          <a:xfrm>
            <a:off x="548640" y="1645920"/>
            <a:ext cx="4937760" cy="731520"/>
          </a:xfrm>
          <a:prstGeom prst="rect">
            <a:avLst/>
          </a:prstGeom>
          <a:noFill/>
          <a:ln/>
        </p:spPr>
        <p:txBody>
          <a:bodyPr wrap="square" lIns="0" tIns="0" rIns="0" bIns="0" rtlCol="0" anchor="t"/>
          <a:lstStyle/>
          <a:p>
            <a:pPr indent="0" marL="0">
              <a:buNone/>
            </a:pPr>
            <a:r>
              <a:rPr lang="en-US" sz="1600" dirty="0">
                <a:solidFill>
                  <a:schemeClr val="accent2"/>
                </a:solidFill>
              </a:rPr>
              <a:t>Explainable Cat &amp; Dog Image Classification with Breed Detection using Deep Learning</a:t>
            </a:r>
            <a:endParaRPr lang="en-US" sz="1600" dirty="0"/>
          </a:p>
        </p:txBody>
      </p:sp>
      <p:sp>
        <p:nvSpPr>
          <p:cNvPr id="5" name="Text 3"/>
          <p:cNvSpPr txBox="1"/>
          <p:nvPr/>
        </p:nvSpPr>
        <p:spPr>
          <a:xfrm>
            <a:off x="548640" y="2743200"/>
            <a:ext cx="5120640" cy="822960"/>
          </a:xfrm>
          <a:prstGeom prst="rect">
            <a:avLst/>
          </a:prstGeom>
          <a:noFill/>
          <a:ln/>
        </p:spPr>
        <p:txBody>
          <a:bodyPr wrap="square" lIns="0" tIns="0" rIns="0" bIns="0" rtlCol="0" anchor="t"/>
          <a:lstStyle/>
          <a:p>
            <a:pPr indent="0" marL="0">
              <a:spcAft>
                <a:spcPts val="400"/>
              </a:spcAft>
              <a:buNone/>
            </a:pPr>
            <a:r>
              <a:rPr lang="en-US" sz="1300" dirty="0">
                <a:solidFill>
                  <a:schemeClr val="bg1"/>
                </a:solidFill>
              </a:rPr>
              <a:t>Anushka Srivastava  |  Roll No. 202310101150121</a:t>
            </a:r>
            <a:endParaRPr lang="en-US" sz="1300" dirty="0"/>
          </a:p>
          <a:p>
            <a:pPr indent="0" marL="0">
              <a:spcAft>
                <a:spcPts val="400"/>
              </a:spcAft>
              <a:buNone/>
            </a:pPr>
            <a:r>
              <a:rPr lang="en-US" sz="1300" dirty="0">
                <a:solidFill>
                  <a:schemeClr val="bg1"/>
                </a:solidFill>
              </a:rPr>
              <a:t>Shikha Verma  |  Roll No. 202310101150132</a:t>
            </a:r>
            <a:endParaRPr lang="en-US" sz="1300" dirty="0"/>
          </a:p>
          <a:p>
            <a:pPr indent="0" marL="0">
              <a:spcAft>
                <a:spcPts val="400"/>
              </a:spcAft>
              <a:buNone/>
            </a:pPr>
            <a:r>
              <a:rPr lang="en-US" sz="1300" dirty="0">
                <a:solidFill>
                  <a:schemeClr val="bg1"/>
                </a:solidFill>
              </a:rPr>
              <a:t>Vidisha Arora  |  Roll No. 202310101150160</a:t>
            </a:r>
            <a:endParaRPr lang="en-US" sz="1300" dirty="0"/>
          </a:p>
        </p:txBody>
      </p:sp>
      <p:sp>
        <p:nvSpPr>
          <p:cNvPr id="6" name="Text 4"/>
          <p:cNvSpPr txBox="1"/>
          <p:nvPr/>
        </p:nvSpPr>
        <p:spPr>
          <a:xfrm>
            <a:off x="548640" y="3840480"/>
            <a:ext cx="5120640" cy="548640"/>
          </a:xfrm>
          <a:prstGeom prst="rect">
            <a:avLst/>
          </a:prstGeom>
          <a:noFill/>
          <a:ln/>
        </p:spPr>
        <p:txBody>
          <a:bodyPr wrap="square" lIns="0" tIns="0" rIns="0" bIns="0" rtlCol="0" anchor="t"/>
          <a:lstStyle/>
          <a:p>
            <a:pPr indent="0" marL="0">
              <a:buNone/>
            </a:pPr>
            <a:r>
              <a:rPr lang="en-US" sz="1100" dirty="0">
                <a:solidFill>
                  <a:srgbClr val="A9AEC9"/>
                </a:solidFill>
              </a:rPr>
              <a:t>B.Tech CSE — Data Science &amp; Artificial Intelligence</a:t>
            </a:r>
            <a:endParaRPr lang="en-US" sz="1100" dirty="0"/>
          </a:p>
          <a:p>
            <a:pPr indent="0" marL="0">
              <a:buNone/>
            </a:pPr>
            <a:r>
              <a:rPr lang="en-US" sz="1100" dirty="0">
                <a:solidFill>
                  <a:srgbClr val="A9AEC9"/>
                </a:solidFill>
              </a:rPr>
              <a:t>Academic Session 2026–27</a:t>
            </a:r>
            <a:endParaRPr lang="en-US" sz="1100" dirty="0"/>
          </a:p>
        </p:txBody>
      </p:sp>
      <p:sp>
        <p:nvSpPr>
          <p:cNvPr id="7" name="cat icon circle"/>
          <p:cNvSpPr/>
          <p:nvPr/>
        </p:nvSpPr>
        <p:spPr>
          <a:xfrm>
            <a:off x="5989320" y="685800"/>
            <a:ext cx="1737360" cy="1737360"/>
          </a:xfrm>
          <a:prstGeom prst="ellipse">
            <a:avLst/>
          </a:prstGeom>
          <a:solidFill>
            <a:schemeClr val="accent3"/>
          </a:solidFill>
          <a:ln/>
        </p:spPr>
      </p:sp>
      <p:pic>
        <p:nvPicPr>
          <p:cNvPr id="8" name="Image 0" descr="cat icon">    </p:cNvPr>
          <p:cNvPicPr>
            <a:picLocks noChangeAspect="1"/>
          </p:cNvPicPr>
          <p:nvPr/>
        </p:nvPicPr>
        <p:blipFill>
          <a:blip r:embed="rId1"/>
          <a:stretch>
            <a:fillRect/>
          </a:stretch>
        </p:blipFill>
        <p:spPr>
          <a:xfrm>
            <a:off x="6423660" y="1120140"/>
            <a:ext cx="868680" cy="868680"/>
          </a:xfrm>
          <a:prstGeom prst="rect">
            <a:avLst/>
          </a:prstGeom>
        </p:spPr>
      </p:pic>
      <p:sp>
        <p:nvSpPr>
          <p:cNvPr id="9" name="dog icon circle"/>
          <p:cNvSpPr/>
          <p:nvPr/>
        </p:nvSpPr>
        <p:spPr>
          <a:xfrm>
            <a:off x="6995160" y="2011680"/>
            <a:ext cx="1737360" cy="1737360"/>
          </a:xfrm>
          <a:prstGeom prst="ellipse">
            <a:avLst/>
          </a:prstGeom>
          <a:solidFill>
            <a:schemeClr val="accent1"/>
          </a:solidFill>
          <a:ln/>
        </p:spPr>
      </p:sp>
      <p:pic>
        <p:nvPicPr>
          <p:cNvPr id="10" name="Image 1" descr="dog icon">    </p:cNvPr>
          <p:cNvPicPr>
            <a:picLocks noChangeAspect="1"/>
          </p:cNvPicPr>
          <p:nvPr/>
        </p:nvPicPr>
        <p:blipFill>
          <a:blip r:embed="rId2"/>
          <a:stretch>
            <a:fillRect/>
          </a:stretch>
        </p:blipFill>
        <p:spPr>
          <a:xfrm>
            <a:off x="7429500" y="2446020"/>
            <a:ext cx="868680" cy="868680"/>
          </a:xfrm>
          <a:prstGeom prst="rect">
            <a:avLst/>
          </a:prstGeom>
        </p:spPr>
      </p:pic>
      <p:sp>
        <p:nvSpPr>
          <p:cNvPr id="11" name="explainability icon circle"/>
          <p:cNvSpPr/>
          <p:nvPr/>
        </p:nvSpPr>
        <p:spPr>
          <a:xfrm>
            <a:off x="6172200" y="3246120"/>
            <a:ext cx="868680" cy="868680"/>
          </a:xfrm>
          <a:prstGeom prst="ellipse">
            <a:avLst/>
          </a:prstGeom>
          <a:solidFill>
            <a:schemeClr val="accent2"/>
          </a:solidFill>
          <a:ln/>
        </p:spPr>
      </p:sp>
      <p:pic>
        <p:nvPicPr>
          <p:cNvPr id="12" name="Image 2" descr="explainability icon">    </p:cNvPr>
          <p:cNvPicPr>
            <a:picLocks noChangeAspect="1"/>
          </p:cNvPicPr>
          <p:nvPr/>
        </p:nvPicPr>
        <p:blipFill>
          <a:blip r:embed="rId3"/>
          <a:stretch>
            <a:fillRect/>
          </a:stretch>
        </p:blipFill>
        <p:spPr>
          <a:xfrm>
            <a:off x="6389370" y="3463290"/>
            <a:ext cx="434340" cy="4343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600" b="1" dirty="0">
                <a:solidFill>
                  <a:schemeClr val="tx1"/>
                </a:solidFill>
              </a:rPr>
              <a:t>01 | Introduction</a:t>
            </a:r>
            <a:endParaRPr lang="en-US" sz="2600" dirty="0"/>
          </a:p>
        </p:txBody>
      </p:sp>
      <p:sp>
        <p:nvSpPr>
          <p:cNvPr id="3" name="Deep learning circle"/>
          <p:cNvSpPr/>
          <p:nvPr/>
        </p:nvSpPr>
        <p:spPr>
          <a:xfrm>
            <a:off x="457200" y="1097280"/>
            <a:ext cx="548640" cy="548640"/>
          </a:xfrm>
          <a:prstGeom prst="ellipse">
            <a:avLst/>
          </a:prstGeom>
          <a:solidFill>
            <a:schemeClr val="accent2"/>
          </a:solidFill>
          <a:ln/>
        </p:spPr>
      </p:sp>
      <p:pic>
        <p:nvPicPr>
          <p:cNvPr id="4" name="Image 0" descr="Deep learning">    </p:cNvPr>
          <p:cNvPicPr>
            <a:picLocks noChangeAspect="1"/>
          </p:cNvPicPr>
          <p:nvPr/>
        </p:nvPicPr>
        <p:blipFill>
          <a:blip r:embed="rId1"/>
          <a:stretch>
            <a:fillRect/>
          </a:stretch>
        </p:blipFill>
        <p:spPr>
          <a:xfrm>
            <a:off x="594360" y="1234440"/>
            <a:ext cx="274320" cy="274320"/>
          </a:xfrm>
          <a:prstGeom prst="rect">
            <a:avLst/>
          </a:prstGeom>
        </p:spPr>
      </p:pic>
      <p:sp>
        <p:nvSpPr>
          <p:cNvPr id="5" name="Text 2"/>
          <p:cNvSpPr txBox="1"/>
          <p:nvPr/>
        </p:nvSpPr>
        <p:spPr>
          <a:xfrm>
            <a:off x="1188720" y="1051560"/>
            <a:ext cx="4023360" cy="960120"/>
          </a:xfrm>
          <a:prstGeom prst="rect">
            <a:avLst/>
          </a:prstGeom>
          <a:noFill/>
          <a:ln/>
        </p:spPr>
        <p:txBody>
          <a:bodyPr wrap="square" lIns="0" tIns="0" rIns="0" bIns="0" rtlCol="0" anchor="t"/>
          <a:lstStyle/>
          <a:p>
            <a:pPr indent="0" marL="0">
              <a:spcAft>
                <a:spcPts val="300"/>
              </a:spcAft>
              <a:buNone/>
            </a:pPr>
            <a:r>
              <a:rPr lang="en-US" sz="1500" b="1" dirty="0">
                <a:solidFill>
                  <a:schemeClr val="tx1"/>
                </a:solidFill>
              </a:rPr>
              <a:t>Deep learning</a:t>
            </a:r>
            <a:endParaRPr lang="en-US" sz="1500" dirty="0"/>
          </a:p>
          <a:p>
            <a:pPr indent="0" marL="0">
              <a:spcAft>
                <a:spcPts val="300"/>
              </a:spcAft>
              <a:buNone/>
            </a:pPr>
            <a:r>
              <a:rPr lang="en-US" sz="1300" dirty="0">
                <a:solidFill>
                  <a:schemeClr val="tx2"/>
                </a:solidFill>
              </a:rPr>
              <a:t>A Convolutional Neural Network (CNN) learns shapes, fur texture and face patterns directly from pixels — no hand-written rules.</a:t>
            </a:r>
            <a:endParaRPr lang="en-US" sz="1500" dirty="0"/>
          </a:p>
        </p:txBody>
      </p:sp>
      <p:sp>
        <p:nvSpPr>
          <p:cNvPr id="6" name="Image classification circle"/>
          <p:cNvSpPr/>
          <p:nvPr/>
        </p:nvSpPr>
        <p:spPr>
          <a:xfrm>
            <a:off x="457200" y="2194560"/>
            <a:ext cx="548640" cy="548640"/>
          </a:xfrm>
          <a:prstGeom prst="ellipse">
            <a:avLst/>
          </a:prstGeom>
          <a:solidFill>
            <a:schemeClr val="accent1"/>
          </a:solidFill>
          <a:ln/>
        </p:spPr>
      </p:sp>
      <p:pic>
        <p:nvPicPr>
          <p:cNvPr id="7" name="Image 1" descr="Image classification">    </p:cNvPr>
          <p:cNvPicPr>
            <a:picLocks noChangeAspect="1"/>
          </p:cNvPicPr>
          <p:nvPr/>
        </p:nvPicPr>
        <p:blipFill>
          <a:blip r:embed="rId2"/>
          <a:stretch>
            <a:fillRect/>
          </a:stretch>
        </p:blipFill>
        <p:spPr>
          <a:xfrm>
            <a:off x="594360" y="2331720"/>
            <a:ext cx="274320" cy="274320"/>
          </a:xfrm>
          <a:prstGeom prst="rect">
            <a:avLst/>
          </a:prstGeom>
        </p:spPr>
      </p:pic>
      <p:sp>
        <p:nvSpPr>
          <p:cNvPr id="8" name="Text 4"/>
          <p:cNvSpPr txBox="1"/>
          <p:nvPr/>
        </p:nvSpPr>
        <p:spPr>
          <a:xfrm>
            <a:off x="1188720" y="2148840"/>
            <a:ext cx="4023360" cy="960120"/>
          </a:xfrm>
          <a:prstGeom prst="rect">
            <a:avLst/>
          </a:prstGeom>
          <a:noFill/>
          <a:ln/>
        </p:spPr>
        <p:txBody>
          <a:bodyPr wrap="square" lIns="0" tIns="0" rIns="0" bIns="0" rtlCol="0" anchor="t"/>
          <a:lstStyle/>
          <a:p>
            <a:pPr indent="0" marL="0">
              <a:spcAft>
                <a:spcPts val="300"/>
              </a:spcAft>
              <a:buNone/>
            </a:pPr>
            <a:r>
              <a:rPr lang="en-US" sz="1500" b="1" dirty="0">
                <a:solidFill>
                  <a:schemeClr val="tx1"/>
                </a:solidFill>
              </a:rPr>
              <a:t>Image classification</a:t>
            </a:r>
            <a:endParaRPr lang="en-US" sz="1500" dirty="0"/>
          </a:p>
          <a:p>
            <a:pPr indent="0" marL="0">
              <a:spcAft>
                <a:spcPts val="300"/>
              </a:spcAft>
              <a:buNone/>
            </a:pPr>
            <a:r>
              <a:rPr lang="en-US" sz="1300" dirty="0">
                <a:solidFill>
                  <a:schemeClr val="tx2"/>
                </a:solidFill>
              </a:rPr>
              <a:t>Give the model a photo; it returns a label and how sure it is (confidence).</a:t>
            </a:r>
            <a:endParaRPr lang="en-US" sz="1500" dirty="0"/>
          </a:p>
        </p:txBody>
      </p:sp>
      <p:sp>
        <p:nvSpPr>
          <p:cNvPr id="9" name="Our project: PawLens circle"/>
          <p:cNvSpPr/>
          <p:nvPr/>
        </p:nvSpPr>
        <p:spPr>
          <a:xfrm>
            <a:off x="457200" y="3291840"/>
            <a:ext cx="548640" cy="548640"/>
          </a:xfrm>
          <a:prstGeom prst="ellipse">
            <a:avLst/>
          </a:prstGeom>
          <a:solidFill>
            <a:schemeClr val="accent3"/>
          </a:solidFill>
          <a:ln/>
        </p:spPr>
      </p:sp>
      <p:pic>
        <p:nvPicPr>
          <p:cNvPr id="10" name="Image 2" descr="Our project: PawLens">    </p:cNvPr>
          <p:cNvPicPr>
            <a:picLocks noChangeAspect="1"/>
          </p:cNvPicPr>
          <p:nvPr/>
        </p:nvPicPr>
        <p:blipFill>
          <a:blip r:embed="rId3"/>
          <a:stretch>
            <a:fillRect/>
          </a:stretch>
        </p:blipFill>
        <p:spPr>
          <a:xfrm>
            <a:off x="594360" y="3429000"/>
            <a:ext cx="274320" cy="274320"/>
          </a:xfrm>
          <a:prstGeom prst="rect">
            <a:avLst/>
          </a:prstGeom>
        </p:spPr>
      </p:pic>
      <p:sp>
        <p:nvSpPr>
          <p:cNvPr id="11" name="Text 6"/>
          <p:cNvSpPr txBox="1"/>
          <p:nvPr/>
        </p:nvSpPr>
        <p:spPr>
          <a:xfrm>
            <a:off x="1188720" y="3246120"/>
            <a:ext cx="4023360" cy="960120"/>
          </a:xfrm>
          <a:prstGeom prst="rect">
            <a:avLst/>
          </a:prstGeom>
          <a:noFill/>
          <a:ln/>
        </p:spPr>
        <p:txBody>
          <a:bodyPr wrap="square" lIns="0" tIns="0" rIns="0" bIns="0" rtlCol="0" anchor="t"/>
          <a:lstStyle/>
          <a:p>
            <a:pPr indent="0" marL="0">
              <a:spcAft>
                <a:spcPts val="300"/>
              </a:spcAft>
              <a:buNone/>
            </a:pPr>
            <a:r>
              <a:rPr lang="en-US" sz="1500" b="1" dirty="0">
                <a:solidFill>
                  <a:schemeClr val="tx1"/>
                </a:solidFill>
              </a:rPr>
              <a:t>Our project: PawLens</a:t>
            </a:r>
            <a:endParaRPr lang="en-US" sz="1500" dirty="0"/>
          </a:p>
          <a:p>
            <a:pPr indent="0" marL="0">
              <a:spcAft>
                <a:spcPts val="300"/>
              </a:spcAft>
              <a:buNone/>
            </a:pPr>
            <a:r>
              <a:rPr lang="en-US" sz="1300" dirty="0">
                <a:solidFill>
                  <a:schemeClr val="tx2"/>
                </a:solidFill>
              </a:rPr>
              <a:t>Goes beyond “cat or dog”: finds the breed, shows why it decided, and says “no pet found” for other photos.</a:t>
            </a:r>
            <a:endParaRPr lang="en-US" sz="1500" dirty="0"/>
          </a:p>
        </p:txBody>
      </p:sp>
      <p:sp>
        <p:nvSpPr>
          <p:cNvPr id="12" name="stats panel"/>
          <p:cNvSpPr/>
          <p:nvPr/>
        </p:nvSpPr>
        <p:spPr>
          <a:xfrm>
            <a:off x="5577840" y="1051560"/>
            <a:ext cx="3108960" cy="3383280"/>
          </a:xfrm>
          <a:prstGeom prst="roundRect">
            <a:avLst>
              <a:gd name="adj" fmla="val 2353"/>
            </a:avLst>
          </a:prstGeom>
          <a:solidFill>
            <a:schemeClr val="tx1"/>
          </a:solidFill>
          <a:ln/>
        </p:spPr>
      </p:sp>
      <p:sp>
        <p:nvSpPr>
          <p:cNvPr id="13" name="Text 8"/>
          <p:cNvSpPr txBox="1"/>
          <p:nvPr/>
        </p:nvSpPr>
        <p:spPr>
          <a:xfrm>
            <a:off x="5852160" y="1234440"/>
            <a:ext cx="1097280" cy="822960"/>
          </a:xfrm>
          <a:prstGeom prst="rect">
            <a:avLst/>
          </a:prstGeom>
          <a:noFill/>
          <a:ln/>
        </p:spPr>
        <p:txBody>
          <a:bodyPr wrap="square" lIns="0" tIns="0" rIns="0" bIns="0" rtlCol="0" anchor="ctr"/>
          <a:lstStyle/>
          <a:p>
            <a:pPr indent="0" marL="0">
              <a:buNone/>
            </a:pPr>
            <a:r>
              <a:rPr lang="en-US" sz="4400" b="1" dirty="0">
                <a:solidFill>
                  <a:schemeClr val="accent1"/>
                </a:solidFill>
                <a:latin typeface="Arial" pitchFamily="34" charset="0"/>
                <a:ea typeface="Arial" pitchFamily="34" charset="-122"/>
                <a:cs typeface="Arial" pitchFamily="34" charset="-120"/>
              </a:rPr>
              <a:t>37</a:t>
            </a:r>
            <a:endParaRPr lang="en-US" sz="4400" dirty="0"/>
          </a:p>
        </p:txBody>
      </p:sp>
      <p:sp>
        <p:nvSpPr>
          <p:cNvPr id="14" name="Text 9"/>
          <p:cNvSpPr txBox="1"/>
          <p:nvPr/>
        </p:nvSpPr>
        <p:spPr>
          <a:xfrm>
            <a:off x="6903720" y="1234440"/>
            <a:ext cx="1645920" cy="822960"/>
          </a:xfrm>
          <a:prstGeom prst="rect">
            <a:avLst/>
          </a:prstGeom>
          <a:noFill/>
          <a:ln/>
        </p:spPr>
        <p:txBody>
          <a:bodyPr wrap="square" lIns="0" tIns="0" rIns="0" bIns="0" rtlCol="0" anchor="ctr"/>
          <a:lstStyle/>
          <a:p>
            <a:pPr indent="0" marL="0">
              <a:buNone/>
            </a:pPr>
            <a:r>
              <a:rPr lang="en-US" sz="1300" dirty="0">
                <a:solidFill>
                  <a:schemeClr val="bg1"/>
                </a:solidFill>
              </a:rPr>
              <a:t>cat &amp; dog breeds recognised</a:t>
            </a:r>
            <a:endParaRPr lang="en-US" sz="1300" dirty="0"/>
          </a:p>
        </p:txBody>
      </p:sp>
      <p:sp>
        <p:nvSpPr>
          <p:cNvPr id="15" name="Text 10"/>
          <p:cNvSpPr txBox="1"/>
          <p:nvPr/>
        </p:nvSpPr>
        <p:spPr>
          <a:xfrm>
            <a:off x="5852160" y="2258568"/>
            <a:ext cx="1097280" cy="822960"/>
          </a:xfrm>
          <a:prstGeom prst="rect">
            <a:avLst/>
          </a:prstGeom>
          <a:noFill/>
          <a:ln/>
        </p:spPr>
        <p:txBody>
          <a:bodyPr wrap="square" lIns="0" tIns="0" rIns="0" bIns="0" rtlCol="0" anchor="ctr"/>
          <a:lstStyle/>
          <a:p>
            <a:pPr indent="0" marL="0">
              <a:buNone/>
            </a:pPr>
            <a:r>
              <a:rPr lang="en-US" sz="4400" b="1" dirty="0">
                <a:solidFill>
                  <a:schemeClr val="accent2"/>
                </a:solidFill>
                <a:latin typeface="Arial" pitchFamily="34" charset="0"/>
                <a:ea typeface="Arial" pitchFamily="34" charset="-122"/>
                <a:cs typeface="Arial" pitchFamily="34" charset="-120"/>
              </a:rPr>
              <a:t>4</a:t>
            </a:r>
            <a:endParaRPr lang="en-US" sz="4400" dirty="0"/>
          </a:p>
        </p:txBody>
      </p:sp>
      <p:sp>
        <p:nvSpPr>
          <p:cNvPr id="16" name="Text 11"/>
          <p:cNvSpPr txBox="1"/>
          <p:nvPr/>
        </p:nvSpPr>
        <p:spPr>
          <a:xfrm>
            <a:off x="6903720" y="2258568"/>
            <a:ext cx="1645920" cy="822960"/>
          </a:xfrm>
          <a:prstGeom prst="rect">
            <a:avLst/>
          </a:prstGeom>
          <a:noFill/>
          <a:ln/>
        </p:spPr>
        <p:txBody>
          <a:bodyPr wrap="square" lIns="0" tIns="0" rIns="0" bIns="0" rtlCol="0" anchor="ctr"/>
          <a:lstStyle/>
          <a:p>
            <a:pPr indent="0" marL="0">
              <a:buNone/>
            </a:pPr>
            <a:r>
              <a:rPr lang="en-US" sz="1300" dirty="0">
                <a:solidFill>
                  <a:schemeClr val="bg1"/>
                </a:solidFill>
              </a:rPr>
              <a:t>deep learning models used</a:t>
            </a:r>
            <a:endParaRPr lang="en-US" sz="1300" dirty="0"/>
          </a:p>
        </p:txBody>
      </p:sp>
      <p:sp>
        <p:nvSpPr>
          <p:cNvPr id="17" name="Text 12"/>
          <p:cNvSpPr txBox="1"/>
          <p:nvPr/>
        </p:nvSpPr>
        <p:spPr>
          <a:xfrm>
            <a:off x="5852160" y="3282696"/>
            <a:ext cx="1097280" cy="822960"/>
          </a:xfrm>
          <a:prstGeom prst="rect">
            <a:avLst/>
          </a:prstGeom>
          <a:noFill/>
          <a:ln/>
        </p:spPr>
        <p:txBody>
          <a:bodyPr wrap="square" lIns="0" tIns="0" rIns="0" bIns="0" rtlCol="0" anchor="ctr"/>
          <a:lstStyle/>
          <a:p>
            <a:pPr indent="0" marL="0">
              <a:buNone/>
            </a:pPr>
            <a:r>
              <a:rPr lang="en-US" sz="4400" b="1" dirty="0">
                <a:solidFill>
                  <a:schemeClr val="accent4"/>
                </a:solidFill>
                <a:latin typeface="Arial" pitchFamily="34" charset="0"/>
                <a:ea typeface="Arial" pitchFamily="34" charset="-122"/>
                <a:cs typeface="Arial" pitchFamily="34" charset="-120"/>
              </a:rPr>
              <a:t>6</a:t>
            </a:r>
            <a:endParaRPr lang="en-US" sz="4400" dirty="0"/>
          </a:p>
        </p:txBody>
      </p:sp>
      <p:sp>
        <p:nvSpPr>
          <p:cNvPr id="18" name="Text 13"/>
          <p:cNvSpPr txBox="1"/>
          <p:nvPr/>
        </p:nvSpPr>
        <p:spPr>
          <a:xfrm>
            <a:off x="6903720" y="3282696"/>
            <a:ext cx="1645920" cy="822960"/>
          </a:xfrm>
          <a:prstGeom prst="rect">
            <a:avLst/>
          </a:prstGeom>
          <a:noFill/>
          <a:ln/>
        </p:spPr>
        <p:txBody>
          <a:bodyPr wrap="square" lIns="0" tIns="0" rIns="0" bIns="0" rtlCol="0" anchor="ctr"/>
          <a:lstStyle/>
          <a:p>
            <a:pPr indent="0" marL="0">
              <a:buNone/>
            </a:pPr>
            <a:r>
              <a:rPr lang="en-US" sz="1300" dirty="0">
                <a:solidFill>
                  <a:schemeClr val="bg1"/>
                </a:solidFill>
              </a:rPr>
              <a:t>modules in the web app</a:t>
            </a:r>
            <a:endParaRPr lang="en-US" sz="13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600" b="1" dirty="0">
                <a:solidFill>
                  <a:schemeClr val="tx1"/>
                </a:solidFill>
              </a:rPr>
              <a:t>02 | Problem Statement &amp; Motivation</a:t>
            </a:r>
            <a:endParaRPr lang="en-US" sz="2600" dirty="0"/>
          </a:p>
        </p:txBody>
      </p:sp>
      <p:sp>
        <p:nvSpPr>
          <p:cNvPr id="3" name="Text 1"/>
          <p:cNvSpPr txBox="1"/>
          <p:nvPr/>
        </p:nvSpPr>
        <p:spPr>
          <a:xfrm>
            <a:off x="457200" y="960120"/>
            <a:ext cx="4846320" cy="320040"/>
          </a:xfrm>
          <a:prstGeom prst="rect">
            <a:avLst/>
          </a:prstGeom>
          <a:noFill/>
          <a:ln/>
        </p:spPr>
        <p:txBody>
          <a:bodyPr wrap="square" lIns="0" tIns="0" rIns="0" bIns="0" rtlCol="0" anchor="ctr"/>
          <a:lstStyle/>
          <a:p>
            <a:pPr indent="0" marL="0">
              <a:buNone/>
            </a:pPr>
            <a:r>
              <a:rPr lang="en-US" sz="1400" b="1" dirty="0">
                <a:solidFill>
                  <a:schemeClr val="accent1"/>
                </a:solidFill>
              </a:rPr>
              <a:t>What is wrong with typical cat/dog classifiers</a:t>
            </a:r>
            <a:endParaRPr lang="en-US" sz="1400" dirty="0"/>
          </a:p>
        </p:txBody>
      </p:sp>
      <p:sp>
        <p:nvSpPr>
          <p:cNvPr id="4" name="problem circle"/>
          <p:cNvSpPr/>
          <p:nvPr/>
        </p:nvSpPr>
        <p:spPr>
          <a:xfrm>
            <a:off x="457200" y="1444752"/>
            <a:ext cx="384048" cy="384048"/>
          </a:xfrm>
          <a:prstGeom prst="ellipse">
            <a:avLst/>
          </a:prstGeom>
          <a:solidFill>
            <a:schemeClr val="accent5"/>
          </a:solidFill>
          <a:ln/>
        </p:spPr>
      </p:sp>
      <p:pic>
        <p:nvPicPr>
          <p:cNvPr id="5" name="Image 0" descr="problem">    </p:cNvPr>
          <p:cNvPicPr>
            <a:picLocks noChangeAspect="1"/>
          </p:cNvPicPr>
          <p:nvPr/>
        </p:nvPicPr>
        <p:blipFill>
          <a:blip r:embed="rId1"/>
          <a:stretch>
            <a:fillRect/>
          </a:stretch>
        </p:blipFill>
        <p:spPr>
          <a:xfrm>
            <a:off x="553212" y="1540764"/>
            <a:ext cx="192024" cy="192024"/>
          </a:xfrm>
          <a:prstGeom prst="rect">
            <a:avLst/>
          </a:prstGeom>
        </p:spPr>
      </p:pic>
      <p:sp>
        <p:nvSpPr>
          <p:cNvPr id="6" name="Text 3"/>
          <p:cNvSpPr txBox="1"/>
          <p:nvPr/>
        </p:nvSpPr>
        <p:spPr>
          <a:xfrm>
            <a:off x="1005840" y="1417320"/>
            <a:ext cx="4297680" cy="548640"/>
          </a:xfrm>
          <a:prstGeom prst="rect">
            <a:avLst/>
          </a:prstGeom>
          <a:noFill/>
          <a:ln/>
        </p:spPr>
        <p:txBody>
          <a:bodyPr wrap="square" lIns="0" tIns="0" rIns="0" bIns="0" rtlCol="0" anchor="t"/>
          <a:lstStyle/>
          <a:p>
            <a:pPr indent="0" marL="0">
              <a:buNone/>
            </a:pPr>
            <a:r>
              <a:rPr lang="en-US" sz="1300" b="1" dirty="0">
                <a:solidFill>
                  <a:schemeClr val="tx1"/>
                </a:solidFill>
              </a:rPr>
              <a:t>Forced choice — </a:t>
            </a:r>
            <a:pPr indent="0" marL="0">
              <a:buNone/>
            </a:pPr>
            <a:r>
              <a:rPr lang="en-US" sz="1300" dirty="0">
                <a:solidFill>
                  <a:schemeClr val="tx2"/>
                </a:solidFill>
              </a:rPr>
              <a:t>A photo of a car still gets called “cat” or “dog”.</a:t>
            </a:r>
            <a:endParaRPr lang="en-US" sz="1300" dirty="0"/>
          </a:p>
        </p:txBody>
      </p:sp>
      <p:sp>
        <p:nvSpPr>
          <p:cNvPr id="7" name="problem circle"/>
          <p:cNvSpPr/>
          <p:nvPr/>
        </p:nvSpPr>
        <p:spPr>
          <a:xfrm>
            <a:off x="457200" y="2194560"/>
            <a:ext cx="384048" cy="384048"/>
          </a:xfrm>
          <a:prstGeom prst="ellipse">
            <a:avLst/>
          </a:prstGeom>
          <a:solidFill>
            <a:schemeClr val="accent5"/>
          </a:solidFill>
          <a:ln/>
        </p:spPr>
      </p:sp>
      <p:pic>
        <p:nvPicPr>
          <p:cNvPr id="8" name="Image 1" descr="problem">    </p:cNvPr>
          <p:cNvPicPr>
            <a:picLocks noChangeAspect="1"/>
          </p:cNvPicPr>
          <p:nvPr/>
        </p:nvPicPr>
        <p:blipFill>
          <a:blip r:embed="rId2"/>
          <a:stretch>
            <a:fillRect/>
          </a:stretch>
        </p:blipFill>
        <p:spPr>
          <a:xfrm>
            <a:off x="553212" y="2290572"/>
            <a:ext cx="192024" cy="192024"/>
          </a:xfrm>
          <a:prstGeom prst="rect">
            <a:avLst/>
          </a:prstGeom>
        </p:spPr>
      </p:pic>
      <p:sp>
        <p:nvSpPr>
          <p:cNvPr id="9" name="Text 5"/>
          <p:cNvSpPr txBox="1"/>
          <p:nvPr/>
        </p:nvSpPr>
        <p:spPr>
          <a:xfrm>
            <a:off x="1005840" y="2167128"/>
            <a:ext cx="4297680" cy="548640"/>
          </a:xfrm>
          <a:prstGeom prst="rect">
            <a:avLst/>
          </a:prstGeom>
          <a:noFill/>
          <a:ln/>
        </p:spPr>
        <p:txBody>
          <a:bodyPr wrap="square" lIns="0" tIns="0" rIns="0" bIns="0" rtlCol="0" anchor="t"/>
          <a:lstStyle/>
          <a:p>
            <a:pPr indent="0" marL="0">
              <a:buNone/>
            </a:pPr>
            <a:r>
              <a:rPr lang="en-US" sz="1300" b="1" dirty="0">
                <a:solidFill>
                  <a:schemeClr val="tx1"/>
                </a:solidFill>
              </a:rPr>
              <a:t>Black box — </a:t>
            </a:r>
            <a:pPr indent="0" marL="0">
              <a:buNone/>
            </a:pPr>
            <a:r>
              <a:rPr lang="en-US" sz="1300" dirty="0">
                <a:solidFill>
                  <a:schemeClr val="tx2"/>
                </a:solidFill>
              </a:rPr>
              <a:t>No way to see why the model made its decision.</a:t>
            </a:r>
            <a:endParaRPr lang="en-US" sz="1300" dirty="0"/>
          </a:p>
        </p:txBody>
      </p:sp>
      <p:sp>
        <p:nvSpPr>
          <p:cNvPr id="10" name="problem circle"/>
          <p:cNvSpPr/>
          <p:nvPr/>
        </p:nvSpPr>
        <p:spPr>
          <a:xfrm>
            <a:off x="457200" y="2944368"/>
            <a:ext cx="384048" cy="384048"/>
          </a:xfrm>
          <a:prstGeom prst="ellipse">
            <a:avLst/>
          </a:prstGeom>
          <a:solidFill>
            <a:schemeClr val="accent5"/>
          </a:solidFill>
          <a:ln/>
        </p:spPr>
      </p:sp>
      <p:pic>
        <p:nvPicPr>
          <p:cNvPr id="11" name="Image 2" descr="problem">    </p:cNvPr>
          <p:cNvPicPr>
            <a:picLocks noChangeAspect="1"/>
          </p:cNvPicPr>
          <p:nvPr/>
        </p:nvPicPr>
        <p:blipFill>
          <a:blip r:embed="rId3"/>
          <a:stretch>
            <a:fillRect/>
          </a:stretch>
        </p:blipFill>
        <p:spPr>
          <a:xfrm>
            <a:off x="553212" y="3040380"/>
            <a:ext cx="192024" cy="192024"/>
          </a:xfrm>
          <a:prstGeom prst="rect">
            <a:avLst/>
          </a:prstGeom>
        </p:spPr>
      </p:pic>
      <p:sp>
        <p:nvSpPr>
          <p:cNvPr id="12" name="Text 7"/>
          <p:cNvSpPr txBox="1"/>
          <p:nvPr/>
        </p:nvSpPr>
        <p:spPr>
          <a:xfrm>
            <a:off x="1005840" y="2916936"/>
            <a:ext cx="4297680" cy="548640"/>
          </a:xfrm>
          <a:prstGeom prst="rect">
            <a:avLst/>
          </a:prstGeom>
          <a:noFill/>
          <a:ln/>
        </p:spPr>
        <p:txBody>
          <a:bodyPr wrap="square" lIns="0" tIns="0" rIns="0" bIns="0" rtlCol="0" anchor="t"/>
          <a:lstStyle/>
          <a:p>
            <a:pPr indent="0" marL="0">
              <a:buNone/>
            </a:pPr>
            <a:r>
              <a:rPr lang="en-US" sz="1300" b="1" dirty="0">
                <a:solidFill>
                  <a:schemeClr val="tx1"/>
                </a:solidFill>
              </a:rPr>
              <a:t>Notebook only — </a:t>
            </a:r>
            <a:pPr indent="0" marL="0">
              <a:buNone/>
            </a:pPr>
            <a:r>
              <a:rPr lang="en-US" sz="1300" dirty="0">
                <a:solidFill>
                  <a:schemeClr val="tx2"/>
                </a:solidFill>
              </a:rPr>
              <a:t>Lives in Jupyter — no app a normal person can use.</a:t>
            </a:r>
            <a:endParaRPr lang="en-US" sz="1300" dirty="0"/>
          </a:p>
        </p:txBody>
      </p:sp>
      <p:sp>
        <p:nvSpPr>
          <p:cNvPr id="13" name="problem circle"/>
          <p:cNvSpPr/>
          <p:nvPr/>
        </p:nvSpPr>
        <p:spPr>
          <a:xfrm>
            <a:off x="457200" y="3694176"/>
            <a:ext cx="384048" cy="384048"/>
          </a:xfrm>
          <a:prstGeom prst="ellipse">
            <a:avLst/>
          </a:prstGeom>
          <a:solidFill>
            <a:schemeClr val="accent5"/>
          </a:solidFill>
          <a:ln/>
        </p:spPr>
      </p:sp>
      <p:pic>
        <p:nvPicPr>
          <p:cNvPr id="14" name="Image 3" descr="problem">    </p:cNvPr>
          <p:cNvPicPr>
            <a:picLocks noChangeAspect="1"/>
          </p:cNvPicPr>
          <p:nvPr/>
        </p:nvPicPr>
        <p:blipFill>
          <a:blip r:embed="rId4"/>
          <a:stretch>
            <a:fillRect/>
          </a:stretch>
        </p:blipFill>
        <p:spPr>
          <a:xfrm>
            <a:off x="553212" y="3790188"/>
            <a:ext cx="192024" cy="192024"/>
          </a:xfrm>
          <a:prstGeom prst="rect">
            <a:avLst/>
          </a:prstGeom>
        </p:spPr>
      </p:pic>
      <p:sp>
        <p:nvSpPr>
          <p:cNvPr id="15" name="Text 9"/>
          <p:cNvSpPr txBox="1"/>
          <p:nvPr/>
        </p:nvSpPr>
        <p:spPr>
          <a:xfrm>
            <a:off x="1005840" y="3666744"/>
            <a:ext cx="4297680" cy="548640"/>
          </a:xfrm>
          <a:prstGeom prst="rect">
            <a:avLst/>
          </a:prstGeom>
          <a:noFill/>
          <a:ln/>
        </p:spPr>
        <p:txBody>
          <a:bodyPr wrap="square" lIns="0" tIns="0" rIns="0" bIns="0" rtlCol="0" anchor="t"/>
          <a:lstStyle/>
          <a:p>
            <a:pPr indent="0" marL="0">
              <a:buNone/>
            </a:pPr>
            <a:r>
              <a:rPr lang="en-US" sz="1300" b="1" dirty="0">
                <a:solidFill>
                  <a:schemeClr val="tx1"/>
                </a:solidFill>
              </a:rPr>
              <a:t>Clean-photo testing — </a:t>
            </a:r>
            <a:pPr indent="0" marL="0">
              <a:buNone/>
            </a:pPr>
            <a:r>
              <a:rPr lang="en-US" sz="1300" dirty="0">
                <a:solidFill>
                  <a:schemeClr val="tx2"/>
                </a:solidFill>
              </a:rPr>
              <a:t>Real photos are blurry, dark or tilted; accuracy drops silently.</a:t>
            </a:r>
            <a:endParaRPr lang="en-US" sz="1300" dirty="0"/>
          </a:p>
        </p:txBody>
      </p:sp>
      <p:sp>
        <p:nvSpPr>
          <p:cNvPr id="16" name="motivation panel"/>
          <p:cNvSpPr/>
          <p:nvPr/>
        </p:nvSpPr>
        <p:spPr>
          <a:xfrm>
            <a:off x="5577840" y="960120"/>
            <a:ext cx="3108960" cy="3520440"/>
          </a:xfrm>
          <a:prstGeom prst="roundRect">
            <a:avLst>
              <a:gd name="adj" fmla="val 2353"/>
            </a:avLst>
          </a:prstGeom>
          <a:solidFill>
            <a:schemeClr val="tx1"/>
          </a:solidFill>
          <a:ln/>
        </p:spPr>
      </p:sp>
      <p:sp>
        <p:nvSpPr>
          <p:cNvPr id="17" name="motivation circle"/>
          <p:cNvSpPr/>
          <p:nvPr/>
        </p:nvSpPr>
        <p:spPr>
          <a:xfrm>
            <a:off x="5806440" y="1188720"/>
            <a:ext cx="502920" cy="502920"/>
          </a:xfrm>
          <a:prstGeom prst="ellipse">
            <a:avLst/>
          </a:prstGeom>
          <a:solidFill>
            <a:schemeClr val="accent1"/>
          </a:solidFill>
          <a:ln/>
        </p:spPr>
      </p:sp>
      <p:pic>
        <p:nvPicPr>
          <p:cNvPr id="18" name="Image 4" descr="motivation">    </p:cNvPr>
          <p:cNvPicPr>
            <a:picLocks noChangeAspect="1"/>
          </p:cNvPicPr>
          <p:nvPr/>
        </p:nvPicPr>
        <p:blipFill>
          <a:blip r:embed="rId5"/>
          <a:stretch>
            <a:fillRect/>
          </a:stretch>
        </p:blipFill>
        <p:spPr>
          <a:xfrm>
            <a:off x="5932170" y="1314450"/>
            <a:ext cx="251460" cy="251460"/>
          </a:xfrm>
          <a:prstGeom prst="rect">
            <a:avLst/>
          </a:prstGeom>
        </p:spPr>
      </p:pic>
      <p:sp>
        <p:nvSpPr>
          <p:cNvPr id="19" name="Text 12"/>
          <p:cNvSpPr txBox="1"/>
          <p:nvPr/>
        </p:nvSpPr>
        <p:spPr>
          <a:xfrm>
            <a:off x="6446520" y="1188720"/>
            <a:ext cx="2103120" cy="502920"/>
          </a:xfrm>
          <a:prstGeom prst="rect">
            <a:avLst/>
          </a:prstGeom>
          <a:noFill/>
          <a:ln/>
        </p:spPr>
        <p:txBody>
          <a:bodyPr wrap="square" lIns="0" tIns="0" rIns="0" bIns="0" rtlCol="0" anchor="ctr"/>
          <a:lstStyle/>
          <a:p>
            <a:pPr indent="0" marL="0">
              <a:buNone/>
            </a:pPr>
            <a:r>
              <a:rPr lang="en-US" sz="1700" b="1" dirty="0">
                <a:solidFill>
                  <a:schemeClr val="bg1"/>
                </a:solidFill>
              </a:rPr>
              <a:t>Motivation</a:t>
            </a:r>
            <a:endParaRPr lang="en-US" sz="1700" dirty="0"/>
          </a:p>
        </p:txBody>
      </p:sp>
      <p:sp>
        <p:nvSpPr>
          <p:cNvPr id="20" name="Text 13"/>
          <p:cNvSpPr txBox="1"/>
          <p:nvPr/>
        </p:nvSpPr>
        <p:spPr>
          <a:xfrm>
            <a:off x="5806440" y="1874520"/>
            <a:ext cx="2743200" cy="24688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bg1"/>
                </a:solidFill>
              </a:rPr>
              <a:t>Build a complete deep learning product, not just a model</a:t>
            </a:r>
            <a:endParaRPr lang="en-US" sz="1300" dirty="0"/>
          </a:p>
          <a:p>
            <a:pPr marL="342900" indent="-342900">
              <a:spcAft>
                <a:spcPts val="800"/>
              </a:spcAft>
              <a:buSzPct val="100000"/>
              <a:buChar char="•"/>
            </a:pPr>
            <a:r>
              <a:rPr lang="en-US" sz="1300" dirty="0">
                <a:solidFill>
                  <a:schemeClr val="bg1"/>
                </a:solidFill>
              </a:rPr>
              <a:t>Learn transfer learning, explainable AI and deployment hands-on</a:t>
            </a:r>
            <a:endParaRPr lang="en-US" sz="1300" dirty="0"/>
          </a:p>
          <a:p>
            <a:pPr marL="342900" indent="-342900">
              <a:spcAft>
                <a:spcPts val="800"/>
              </a:spcAft>
              <a:buSzPct val="100000"/>
              <a:buChar char="•"/>
            </a:pPr>
            <a:r>
              <a:rPr lang="en-US" sz="1300" dirty="0">
                <a:solidFill>
                  <a:schemeClr val="bg1"/>
                </a:solidFill>
              </a:rPr>
              <a:t>Real users exist: pet adoption sites, shelters, vet clinics, photo apps</a:t>
            </a:r>
            <a:endParaRPr lang="en-US" sz="13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600" b="1" dirty="0">
                <a:solidFill>
                  <a:schemeClr val="tx1"/>
                </a:solidFill>
              </a:rPr>
              <a:t>03 | Objectives</a:t>
            </a:r>
            <a:endParaRPr lang="en-US" sz="2600" dirty="0"/>
          </a:p>
        </p:txBody>
      </p:sp>
      <p:sp>
        <p:nvSpPr>
          <p:cNvPr id="3" name="objective 1"/>
          <p:cNvSpPr/>
          <p:nvPr/>
        </p:nvSpPr>
        <p:spPr>
          <a:xfrm>
            <a:off x="457200" y="1051560"/>
            <a:ext cx="4023360" cy="960120"/>
          </a:xfrm>
          <a:prstGeom prst="roundRect">
            <a:avLst>
              <a:gd name="adj" fmla="val 7619"/>
            </a:avLst>
          </a:prstGeom>
          <a:solidFill>
            <a:schemeClr val="bg2"/>
          </a:solidFill>
          <a:ln/>
        </p:spPr>
      </p:sp>
      <p:sp>
        <p:nvSpPr>
          <p:cNvPr id="4" name="Text 2"/>
          <p:cNvSpPr txBox="1"/>
          <p:nvPr/>
        </p:nvSpPr>
        <p:spPr>
          <a:xfrm>
            <a:off x="640080" y="1051560"/>
            <a:ext cx="685800" cy="960120"/>
          </a:xfrm>
          <a:prstGeom prst="rect">
            <a:avLst/>
          </a:prstGeom>
          <a:noFill/>
          <a:ln/>
        </p:spPr>
        <p:txBody>
          <a:bodyPr wrap="square" lIns="0" tIns="0" rIns="0" bIns="0" rtlCol="0" anchor="ctr"/>
          <a:lstStyle/>
          <a:p>
            <a:pPr indent="0" marL="0">
              <a:buNone/>
            </a:pPr>
            <a:r>
              <a:rPr lang="en-US" sz="2800" b="1" dirty="0">
                <a:solidFill>
                  <a:schemeClr val="accent1"/>
                </a:solidFill>
                <a:latin typeface="Arial" pitchFamily="34" charset="0"/>
                <a:ea typeface="Arial" pitchFamily="34" charset="-122"/>
                <a:cs typeface="Arial" pitchFamily="34" charset="-120"/>
              </a:rPr>
              <a:t>01</a:t>
            </a:r>
            <a:endParaRPr lang="en-US" sz="2800" dirty="0"/>
          </a:p>
        </p:txBody>
      </p:sp>
      <p:sp>
        <p:nvSpPr>
          <p:cNvPr id="5" name="Text 3"/>
          <p:cNvSpPr txBox="1"/>
          <p:nvPr/>
        </p:nvSpPr>
        <p:spPr>
          <a:xfrm>
            <a:off x="1371600" y="1143000"/>
            <a:ext cx="2971800" cy="777240"/>
          </a:xfrm>
          <a:prstGeom prst="rect">
            <a:avLst/>
          </a:prstGeom>
          <a:noFill/>
          <a:ln/>
        </p:spPr>
        <p:txBody>
          <a:bodyPr wrap="square" lIns="0" tIns="0" rIns="0" bIns="0" rtlCol="0" anchor="ctr"/>
          <a:lstStyle/>
          <a:p>
            <a:pPr indent="0" marL="0">
              <a:buNone/>
            </a:pPr>
            <a:r>
              <a:rPr lang="en-US" sz="1300" dirty="0">
                <a:solidFill>
                  <a:schemeClr val="tx1"/>
                </a:solidFill>
              </a:rPr>
              <a:t>Train a custom CNN and a transfer-learning model, then compare them (target ≥ 95% test accuracy)</a:t>
            </a:r>
            <a:endParaRPr lang="en-US" sz="1300" dirty="0"/>
          </a:p>
        </p:txBody>
      </p:sp>
      <p:sp>
        <p:nvSpPr>
          <p:cNvPr id="6" name="objective 2"/>
          <p:cNvSpPr/>
          <p:nvPr/>
        </p:nvSpPr>
        <p:spPr>
          <a:xfrm>
            <a:off x="4663440" y="1051560"/>
            <a:ext cx="4023360" cy="960120"/>
          </a:xfrm>
          <a:prstGeom prst="roundRect">
            <a:avLst>
              <a:gd name="adj" fmla="val 7619"/>
            </a:avLst>
          </a:prstGeom>
          <a:solidFill>
            <a:schemeClr val="bg2"/>
          </a:solidFill>
          <a:ln/>
        </p:spPr>
      </p:sp>
      <p:sp>
        <p:nvSpPr>
          <p:cNvPr id="7" name="Text 5"/>
          <p:cNvSpPr txBox="1"/>
          <p:nvPr/>
        </p:nvSpPr>
        <p:spPr>
          <a:xfrm>
            <a:off x="4846320" y="1051560"/>
            <a:ext cx="685800" cy="960120"/>
          </a:xfrm>
          <a:prstGeom prst="rect">
            <a:avLst/>
          </a:prstGeom>
          <a:noFill/>
          <a:ln/>
        </p:spPr>
        <p:txBody>
          <a:bodyPr wrap="square" lIns="0" tIns="0" rIns="0" bIns="0" rtlCol="0" anchor="ctr"/>
          <a:lstStyle/>
          <a:p>
            <a:pPr indent="0" marL="0">
              <a:buNone/>
            </a:pPr>
            <a:r>
              <a:rPr lang="en-US" sz="2800" b="1" dirty="0">
                <a:solidFill>
                  <a:schemeClr val="accent1"/>
                </a:solidFill>
                <a:latin typeface="Arial" pitchFamily="34" charset="0"/>
                <a:ea typeface="Arial" pitchFamily="34" charset="-122"/>
                <a:cs typeface="Arial" pitchFamily="34" charset="-120"/>
              </a:rPr>
              <a:t>02</a:t>
            </a:r>
            <a:endParaRPr lang="en-US" sz="2800" dirty="0"/>
          </a:p>
        </p:txBody>
      </p:sp>
      <p:sp>
        <p:nvSpPr>
          <p:cNvPr id="8" name="Text 6"/>
          <p:cNvSpPr txBox="1"/>
          <p:nvPr/>
        </p:nvSpPr>
        <p:spPr>
          <a:xfrm>
            <a:off x="5577840" y="1143000"/>
            <a:ext cx="2971800" cy="777240"/>
          </a:xfrm>
          <a:prstGeom prst="rect">
            <a:avLst/>
          </a:prstGeom>
          <a:noFill/>
          <a:ln/>
        </p:spPr>
        <p:txBody>
          <a:bodyPr wrap="square" lIns="0" tIns="0" rIns="0" bIns="0" rtlCol="0" anchor="ctr"/>
          <a:lstStyle/>
          <a:p>
            <a:pPr indent="0" marL="0">
              <a:buNone/>
            </a:pPr>
            <a:r>
              <a:rPr lang="en-US" sz="1300" dirty="0">
                <a:solidFill>
                  <a:schemeClr val="tx1"/>
                </a:solidFill>
              </a:rPr>
              <a:t>Identify the breed among 37 cat and dog breeds (Oxford-IIIT Pet dataset)</a:t>
            </a:r>
            <a:endParaRPr lang="en-US" sz="1300" dirty="0"/>
          </a:p>
        </p:txBody>
      </p:sp>
      <p:sp>
        <p:nvSpPr>
          <p:cNvPr id="9" name="objective 3"/>
          <p:cNvSpPr/>
          <p:nvPr/>
        </p:nvSpPr>
        <p:spPr>
          <a:xfrm>
            <a:off x="457200" y="2194560"/>
            <a:ext cx="4023360" cy="960120"/>
          </a:xfrm>
          <a:prstGeom prst="roundRect">
            <a:avLst>
              <a:gd name="adj" fmla="val 7619"/>
            </a:avLst>
          </a:prstGeom>
          <a:solidFill>
            <a:schemeClr val="bg2"/>
          </a:solidFill>
          <a:ln/>
        </p:spPr>
      </p:sp>
      <p:sp>
        <p:nvSpPr>
          <p:cNvPr id="10" name="Text 8"/>
          <p:cNvSpPr txBox="1"/>
          <p:nvPr/>
        </p:nvSpPr>
        <p:spPr>
          <a:xfrm>
            <a:off x="640080" y="2194560"/>
            <a:ext cx="685800" cy="960120"/>
          </a:xfrm>
          <a:prstGeom prst="rect">
            <a:avLst/>
          </a:prstGeom>
          <a:noFill/>
          <a:ln/>
        </p:spPr>
        <p:txBody>
          <a:bodyPr wrap="square" lIns="0" tIns="0" rIns="0" bIns="0" rtlCol="0" anchor="ctr"/>
          <a:lstStyle/>
          <a:p>
            <a:pPr indent="0" marL="0">
              <a:buNone/>
            </a:pPr>
            <a:r>
              <a:rPr lang="en-US" sz="2800" b="1" dirty="0">
                <a:solidFill>
                  <a:schemeClr val="accent2"/>
                </a:solidFill>
                <a:latin typeface="Arial" pitchFamily="34" charset="0"/>
                <a:ea typeface="Arial" pitchFamily="34" charset="-122"/>
                <a:cs typeface="Arial" pitchFamily="34" charset="-120"/>
              </a:rPr>
              <a:t>03</a:t>
            </a:r>
            <a:endParaRPr lang="en-US" sz="2800" dirty="0"/>
          </a:p>
        </p:txBody>
      </p:sp>
      <p:sp>
        <p:nvSpPr>
          <p:cNvPr id="11" name="Text 9"/>
          <p:cNvSpPr txBox="1"/>
          <p:nvPr/>
        </p:nvSpPr>
        <p:spPr>
          <a:xfrm>
            <a:off x="1371600" y="2286000"/>
            <a:ext cx="2971800" cy="777240"/>
          </a:xfrm>
          <a:prstGeom prst="rect">
            <a:avLst/>
          </a:prstGeom>
          <a:noFill/>
          <a:ln/>
        </p:spPr>
        <p:txBody>
          <a:bodyPr wrap="square" lIns="0" tIns="0" rIns="0" bIns="0" rtlCol="0" anchor="ctr"/>
          <a:lstStyle/>
          <a:p>
            <a:pPr indent="0" marL="0">
              <a:buNone/>
            </a:pPr>
            <a:r>
              <a:rPr lang="en-US" sz="1300" dirty="0">
                <a:solidFill>
                  <a:schemeClr val="tx1"/>
                </a:solidFill>
              </a:rPr>
              <a:t>Detect and reject photos with no cat or dog, instead of guessing</a:t>
            </a:r>
            <a:endParaRPr lang="en-US" sz="1300" dirty="0"/>
          </a:p>
        </p:txBody>
      </p:sp>
      <p:sp>
        <p:nvSpPr>
          <p:cNvPr id="12" name="objective 4"/>
          <p:cNvSpPr/>
          <p:nvPr/>
        </p:nvSpPr>
        <p:spPr>
          <a:xfrm>
            <a:off x="4663440" y="2194560"/>
            <a:ext cx="4023360" cy="960120"/>
          </a:xfrm>
          <a:prstGeom prst="roundRect">
            <a:avLst>
              <a:gd name="adj" fmla="val 7619"/>
            </a:avLst>
          </a:prstGeom>
          <a:solidFill>
            <a:schemeClr val="bg2"/>
          </a:solidFill>
          <a:ln/>
        </p:spPr>
      </p:sp>
      <p:sp>
        <p:nvSpPr>
          <p:cNvPr id="13" name="Text 11"/>
          <p:cNvSpPr txBox="1"/>
          <p:nvPr/>
        </p:nvSpPr>
        <p:spPr>
          <a:xfrm>
            <a:off x="4846320" y="2194560"/>
            <a:ext cx="685800" cy="960120"/>
          </a:xfrm>
          <a:prstGeom prst="rect">
            <a:avLst/>
          </a:prstGeom>
          <a:noFill/>
          <a:ln/>
        </p:spPr>
        <p:txBody>
          <a:bodyPr wrap="square" lIns="0" tIns="0" rIns="0" bIns="0" rtlCol="0" anchor="ctr"/>
          <a:lstStyle/>
          <a:p>
            <a:pPr indent="0" marL="0">
              <a:buNone/>
            </a:pPr>
            <a:r>
              <a:rPr lang="en-US" sz="2800" b="1" dirty="0">
                <a:solidFill>
                  <a:schemeClr val="accent2"/>
                </a:solidFill>
                <a:latin typeface="Arial" pitchFamily="34" charset="0"/>
                <a:ea typeface="Arial" pitchFamily="34" charset="-122"/>
                <a:cs typeface="Arial" pitchFamily="34" charset="-120"/>
              </a:rPr>
              <a:t>04</a:t>
            </a:r>
            <a:endParaRPr lang="en-US" sz="2800" dirty="0"/>
          </a:p>
        </p:txBody>
      </p:sp>
      <p:sp>
        <p:nvSpPr>
          <p:cNvPr id="14" name="Text 12"/>
          <p:cNvSpPr txBox="1"/>
          <p:nvPr/>
        </p:nvSpPr>
        <p:spPr>
          <a:xfrm>
            <a:off x="5577840" y="2286000"/>
            <a:ext cx="2971800" cy="777240"/>
          </a:xfrm>
          <a:prstGeom prst="rect">
            <a:avLst/>
          </a:prstGeom>
          <a:noFill/>
          <a:ln/>
        </p:spPr>
        <p:txBody>
          <a:bodyPr wrap="square" lIns="0" tIns="0" rIns="0" bIns="0" rtlCol="0" anchor="ctr"/>
          <a:lstStyle/>
          <a:p>
            <a:pPr indent="0" marL="0">
              <a:buNone/>
            </a:pPr>
            <a:r>
              <a:rPr lang="en-US" sz="1300" dirty="0">
                <a:solidFill>
                  <a:schemeClr val="tx1"/>
                </a:solidFill>
              </a:rPr>
              <a:t>Explain every prediction with a Grad-CAM heatmap</a:t>
            </a:r>
            <a:endParaRPr lang="en-US" sz="1300" dirty="0"/>
          </a:p>
        </p:txBody>
      </p:sp>
      <p:sp>
        <p:nvSpPr>
          <p:cNvPr id="15" name="objective 5"/>
          <p:cNvSpPr/>
          <p:nvPr/>
        </p:nvSpPr>
        <p:spPr>
          <a:xfrm>
            <a:off x="457200" y="3337560"/>
            <a:ext cx="4023360" cy="960120"/>
          </a:xfrm>
          <a:prstGeom prst="roundRect">
            <a:avLst>
              <a:gd name="adj" fmla="val 7619"/>
            </a:avLst>
          </a:prstGeom>
          <a:solidFill>
            <a:schemeClr val="bg2"/>
          </a:solidFill>
          <a:ln/>
        </p:spPr>
      </p:sp>
      <p:sp>
        <p:nvSpPr>
          <p:cNvPr id="16" name="Text 14"/>
          <p:cNvSpPr txBox="1"/>
          <p:nvPr/>
        </p:nvSpPr>
        <p:spPr>
          <a:xfrm>
            <a:off x="640080" y="3337560"/>
            <a:ext cx="685800" cy="960120"/>
          </a:xfrm>
          <a:prstGeom prst="rect">
            <a:avLst/>
          </a:prstGeom>
          <a:noFill/>
          <a:ln/>
        </p:spPr>
        <p:txBody>
          <a:bodyPr wrap="square" lIns="0" tIns="0" rIns="0" bIns="0" rtlCol="0" anchor="ctr"/>
          <a:lstStyle/>
          <a:p>
            <a:pPr indent="0" marL="0">
              <a:buNone/>
            </a:pPr>
            <a:r>
              <a:rPr lang="en-US" sz="2800" b="1" dirty="0">
                <a:solidFill>
                  <a:schemeClr val="accent3"/>
                </a:solidFill>
                <a:latin typeface="Arial" pitchFamily="34" charset="0"/>
                <a:ea typeface="Arial" pitchFamily="34" charset="-122"/>
                <a:cs typeface="Arial" pitchFamily="34" charset="-120"/>
              </a:rPr>
              <a:t>05</a:t>
            </a:r>
            <a:endParaRPr lang="en-US" sz="2800" dirty="0"/>
          </a:p>
        </p:txBody>
      </p:sp>
      <p:sp>
        <p:nvSpPr>
          <p:cNvPr id="17" name="Text 15"/>
          <p:cNvSpPr txBox="1"/>
          <p:nvPr/>
        </p:nvSpPr>
        <p:spPr>
          <a:xfrm>
            <a:off x="1371600" y="3429000"/>
            <a:ext cx="2971800" cy="777240"/>
          </a:xfrm>
          <a:prstGeom prst="rect">
            <a:avLst/>
          </a:prstGeom>
          <a:noFill/>
          <a:ln/>
        </p:spPr>
        <p:txBody>
          <a:bodyPr wrap="square" lIns="0" tIns="0" rIns="0" bIns="0" rtlCol="0" anchor="ctr"/>
          <a:lstStyle/>
          <a:p>
            <a:pPr indent="0" marL="0">
              <a:buNone/>
            </a:pPr>
            <a:r>
              <a:rPr lang="en-US" sz="1300" dirty="0">
                <a:solidFill>
                  <a:schemeClr val="tx1"/>
                </a:solidFill>
              </a:rPr>
              <a:t>Deliver a responsive web app: upload, live camera and batch mode</a:t>
            </a:r>
            <a:endParaRPr lang="en-US" sz="1300" dirty="0"/>
          </a:p>
        </p:txBody>
      </p:sp>
      <p:sp>
        <p:nvSpPr>
          <p:cNvPr id="18" name="objective 6"/>
          <p:cNvSpPr/>
          <p:nvPr/>
        </p:nvSpPr>
        <p:spPr>
          <a:xfrm>
            <a:off x="4663440" y="3337560"/>
            <a:ext cx="4023360" cy="960120"/>
          </a:xfrm>
          <a:prstGeom prst="roundRect">
            <a:avLst>
              <a:gd name="adj" fmla="val 7619"/>
            </a:avLst>
          </a:prstGeom>
          <a:solidFill>
            <a:schemeClr val="bg2"/>
          </a:solidFill>
          <a:ln/>
        </p:spPr>
      </p:sp>
      <p:sp>
        <p:nvSpPr>
          <p:cNvPr id="19" name="Text 17"/>
          <p:cNvSpPr txBox="1"/>
          <p:nvPr/>
        </p:nvSpPr>
        <p:spPr>
          <a:xfrm>
            <a:off x="4846320" y="3337560"/>
            <a:ext cx="685800" cy="960120"/>
          </a:xfrm>
          <a:prstGeom prst="rect">
            <a:avLst/>
          </a:prstGeom>
          <a:noFill/>
          <a:ln/>
        </p:spPr>
        <p:txBody>
          <a:bodyPr wrap="square" lIns="0" tIns="0" rIns="0" bIns="0" rtlCol="0" anchor="ctr"/>
          <a:lstStyle/>
          <a:p>
            <a:pPr indent="0" marL="0">
              <a:buNone/>
            </a:pPr>
            <a:r>
              <a:rPr lang="en-US" sz="2800" b="1" dirty="0">
                <a:solidFill>
                  <a:schemeClr val="accent3"/>
                </a:solidFill>
                <a:latin typeface="Arial" pitchFamily="34" charset="0"/>
                <a:ea typeface="Arial" pitchFamily="34" charset="-122"/>
                <a:cs typeface="Arial" pitchFamily="34" charset="-120"/>
              </a:rPr>
              <a:t>06</a:t>
            </a:r>
            <a:endParaRPr lang="en-US" sz="2800" dirty="0"/>
          </a:p>
        </p:txBody>
      </p:sp>
      <p:sp>
        <p:nvSpPr>
          <p:cNvPr id="20" name="Text 18"/>
          <p:cNvSpPr txBox="1"/>
          <p:nvPr/>
        </p:nvSpPr>
        <p:spPr>
          <a:xfrm>
            <a:off x="5577840" y="3429000"/>
            <a:ext cx="2971800" cy="777240"/>
          </a:xfrm>
          <a:prstGeom prst="rect">
            <a:avLst/>
          </a:prstGeom>
          <a:noFill/>
          <a:ln/>
        </p:spPr>
        <p:txBody>
          <a:bodyPr wrap="square" lIns="0" tIns="0" rIns="0" bIns="0" rtlCol="0" anchor="ctr"/>
          <a:lstStyle/>
          <a:p>
            <a:pPr indent="0" marL="0">
              <a:buNone/>
            </a:pPr>
            <a:r>
              <a:rPr lang="en-US" sz="1300" dirty="0">
                <a:solidFill>
                  <a:schemeClr val="tx1"/>
                </a:solidFill>
              </a:rPr>
              <a:t>Measure robustness to blur, darkness, rotation and noise</a:t>
            </a:r>
            <a:endParaRPr lang="en-US" sz="13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600" b="1" dirty="0">
                <a:solidFill>
                  <a:schemeClr val="tx1"/>
                </a:solidFill>
              </a:rPr>
              <a:t>04 | Existing System vs Proposed System</a:t>
            </a:r>
            <a:endParaRPr lang="en-US" sz="2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1463040"/>
                <a:gridCol w="3108960"/>
                <a:gridCol w="3657600"/>
              </a:tblGrid>
              <a:tr h="457200">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Aspect</a:t>
                      </a:r>
                      <a:endParaRPr lang="en-US" sz="1300" dirty="0">
                        <a:latin typeface="Calibri" charset="0"/>
                        <a:ea typeface="Calibri" charset="0"/>
                        <a:cs typeface="Calibri" charset="0"/>
                      </a:endParaRPr>
                    </a:p>
                  </a:txBody>
                  <a:tcPr marL="91440" marR="91440"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Typical existing system</a:t>
                      </a:r>
                      <a:endParaRPr lang="en-US" sz="1300" dirty="0">
                        <a:latin typeface="Calibri" charset="0"/>
                        <a:ea typeface="Calibri" charset="0"/>
                        <a:cs typeface="Calibri" charset="0"/>
                      </a:endParaRPr>
                    </a:p>
                  </a:txBody>
                  <a:tcPr marL="91440" marR="91440"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rgbClr val="4A4E69"/>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PawLens (proposed)</a:t>
                      </a:r>
                      <a:endParaRPr lang="en-US" sz="1300" dirty="0">
                        <a:latin typeface="Calibri" charset="0"/>
                        <a:ea typeface="Calibri" charset="0"/>
                        <a:cs typeface="Calibri" charset="0"/>
                      </a:endParaRPr>
                    </a:p>
                  </a:txBody>
                  <a:tcPr marL="91440" marR="91440"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accent1"/>
                    </a:solidFill>
                  </a:tcPr>
                </a:tc>
              </a:tr>
              <a:tr h="457200">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Output</a:t>
                      </a:r>
                      <a:endParaRPr lang="en-US" sz="1200" dirty="0">
                        <a:latin typeface="Calibri" charset="0"/>
                        <a:ea typeface="Calibri" charset="0"/>
                        <a:cs typeface="Calibri" charset="0"/>
                      </a:endParaRPr>
                    </a:p>
                  </a:txBody>
                  <a:tcPr marL="91440" marR="91440"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latin typeface="Calibri" pitchFamily="34" charset="0"/>
                          <a:ea typeface="Calibri" pitchFamily="34" charset="-122"/>
                          <a:cs typeface="Calibri" pitchFamily="34" charset="-120"/>
                        </a:rPr>
                        <a:t>Cat or Dog only</a:t>
                      </a:r>
                      <a:endParaRPr lang="en-US" sz="1200" dirty="0">
                        <a:latin typeface="Calibri" charset="0"/>
                        <a:ea typeface="Calibri" charset="0"/>
                        <a:cs typeface="Calibri" charset="0"/>
                      </a:endParaRPr>
                    </a:p>
                  </a:txBody>
                  <a:tcPr marL="91440" marR="91440"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Cat / Dog + top-3 breeds (37) + “no pet found”</a:t>
                      </a:r>
                      <a:endParaRPr lang="en-US" sz="1200" dirty="0">
                        <a:latin typeface="Calibri" charset="0"/>
                        <a:ea typeface="Calibri" charset="0"/>
                        <a:cs typeface="Calibri" charset="0"/>
                      </a:endParaRPr>
                    </a:p>
                  </a:txBody>
                  <a:tcPr marL="91440" marR="91440"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Wrong inputs</a:t>
                      </a:r>
                      <a:endParaRPr lang="en-US" sz="1200" dirty="0">
                        <a:latin typeface="Calibri" charset="0"/>
                        <a:ea typeface="Calibri" charset="0"/>
                        <a:cs typeface="Calibri" charset="0"/>
                      </a:endParaRPr>
                    </a:p>
                  </a:txBody>
                  <a:tcPr marL="91440" marR="91440"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latin typeface="Calibri" pitchFamily="34" charset="0"/>
                          <a:ea typeface="Calibri" pitchFamily="34" charset="-122"/>
                          <a:cs typeface="Calibri" pitchFamily="34" charset="-120"/>
                        </a:rPr>
                        <a:t>Always guesses, even for a car photo</a:t>
                      </a:r>
                      <a:endParaRPr lang="en-US" sz="1200" dirty="0">
                        <a:latin typeface="Calibri" charset="0"/>
                        <a:ea typeface="Calibri" charset="0"/>
                        <a:cs typeface="Calibri" charset="0"/>
                      </a:endParaRPr>
                    </a:p>
                  </a:txBody>
                  <a:tcPr marL="91440" marR="91440"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Pet Gate detects and rejects non-pet photos</a:t>
                      </a:r>
                      <a:endParaRPr lang="en-US" sz="1200" dirty="0">
                        <a:latin typeface="Calibri" charset="0"/>
                        <a:ea typeface="Calibri" charset="0"/>
                        <a:cs typeface="Calibri" charset="0"/>
                      </a:endParaRPr>
                    </a:p>
                  </a:txBody>
                  <a:tcPr marL="91440" marR="91440"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bg2"/>
                    </a:solidFill>
                  </a:tcPr>
                </a:tc>
              </a:tr>
              <a:tr h="457200">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Explanation</a:t>
                      </a:r>
                      <a:endParaRPr lang="en-US" sz="1200" dirty="0">
                        <a:latin typeface="Calibri" charset="0"/>
                        <a:ea typeface="Calibri" charset="0"/>
                        <a:cs typeface="Calibri" charset="0"/>
                      </a:endParaRPr>
                    </a:p>
                  </a:txBody>
                  <a:tcPr marL="91440" marR="91440"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latin typeface="Calibri" pitchFamily="34" charset="0"/>
                          <a:ea typeface="Calibri" pitchFamily="34" charset="-122"/>
                          <a:cs typeface="Calibri" pitchFamily="34" charset="-120"/>
                        </a:rPr>
                        <a:t>None — black box</a:t>
                      </a:r>
                      <a:endParaRPr lang="en-US" sz="1200" dirty="0">
                        <a:latin typeface="Calibri" charset="0"/>
                        <a:ea typeface="Calibri" charset="0"/>
                        <a:cs typeface="Calibri" charset="0"/>
                      </a:endParaRPr>
                    </a:p>
                  </a:txBody>
                  <a:tcPr marL="91440" marR="91440"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Grad-CAM heatmap on every prediction</a:t>
                      </a:r>
                      <a:endParaRPr lang="en-US" sz="1200" dirty="0">
                        <a:latin typeface="Calibri" charset="0"/>
                        <a:ea typeface="Calibri" charset="0"/>
                        <a:cs typeface="Calibri" charset="0"/>
                      </a:endParaRPr>
                    </a:p>
                  </a:txBody>
                  <a:tcPr marL="91440" marR="91440"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91440" marR="91440"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latin typeface="Calibri" pitchFamily="34" charset="0"/>
                          <a:ea typeface="Calibri" pitchFamily="34" charset="-122"/>
                          <a:cs typeface="Calibri" pitchFamily="34" charset="-120"/>
                        </a:rPr>
                        <a:t>One CNN, no comparison</a:t>
                      </a:r>
                      <a:endParaRPr lang="en-US" sz="1200" dirty="0">
                        <a:latin typeface="Calibri" charset="0"/>
                        <a:ea typeface="Calibri" charset="0"/>
                        <a:cs typeface="Calibri" charset="0"/>
                      </a:endParaRPr>
                    </a:p>
                  </a:txBody>
                  <a:tcPr marL="91440" marR="91440"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Custom CNN vs MobileNetV2 vs EfficientNetB0</a:t>
                      </a:r>
                      <a:endParaRPr lang="en-US" sz="1200" dirty="0">
                        <a:latin typeface="Calibri" charset="0"/>
                        <a:ea typeface="Calibri" charset="0"/>
                        <a:cs typeface="Calibri" charset="0"/>
                      </a:endParaRPr>
                    </a:p>
                  </a:txBody>
                  <a:tcPr marL="91440" marR="91440"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bg2"/>
                    </a:solidFill>
                  </a:tcPr>
                </a:tc>
              </a:tr>
              <a:tr h="457200">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Interface</a:t>
                      </a:r>
                      <a:endParaRPr lang="en-US" sz="1200" dirty="0">
                        <a:latin typeface="Calibri" charset="0"/>
                        <a:ea typeface="Calibri" charset="0"/>
                        <a:cs typeface="Calibri" charset="0"/>
                      </a:endParaRPr>
                    </a:p>
                  </a:txBody>
                  <a:tcPr marL="91440" marR="91440"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latin typeface="Calibri" pitchFamily="34" charset="0"/>
                          <a:ea typeface="Calibri" pitchFamily="34" charset="-122"/>
                          <a:cs typeface="Calibri" pitchFamily="34" charset="-120"/>
                        </a:rPr>
                        <a:t>Jupyter notebook</a:t>
                      </a:r>
                      <a:endParaRPr lang="en-US" sz="1200" dirty="0">
                        <a:latin typeface="Calibri" charset="0"/>
                        <a:ea typeface="Calibri" charset="0"/>
                        <a:cs typeface="Calibri" charset="0"/>
                      </a:endParaRPr>
                    </a:p>
                  </a:txBody>
                  <a:tcPr marL="91440" marR="91440"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Responsive web app: upload, camera, batch</a:t>
                      </a:r>
                      <a:endParaRPr lang="en-US" sz="1200" dirty="0">
                        <a:latin typeface="Calibri" charset="0"/>
                        <a:ea typeface="Calibri" charset="0"/>
                        <a:cs typeface="Calibri" charset="0"/>
                      </a:endParaRPr>
                    </a:p>
                  </a:txBody>
                  <a:tcPr marL="91440" marR="91440"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Testing</a:t>
                      </a:r>
                      <a:endParaRPr lang="en-US" sz="1200" dirty="0">
                        <a:latin typeface="Calibri" charset="0"/>
                        <a:ea typeface="Calibri" charset="0"/>
                        <a:cs typeface="Calibri" charset="0"/>
                      </a:endParaRPr>
                    </a:p>
                  </a:txBody>
                  <a:tcPr marL="91440" marR="91440"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latin typeface="Calibri" pitchFamily="34" charset="0"/>
                          <a:ea typeface="Calibri" pitchFamily="34" charset="-122"/>
                          <a:cs typeface="Calibri" pitchFamily="34" charset="-120"/>
                        </a:rPr>
                        <a:t>Clean test images only</a:t>
                      </a:r>
                      <a:endParaRPr lang="en-US" sz="1200" dirty="0">
                        <a:latin typeface="Calibri" charset="0"/>
                        <a:ea typeface="Calibri" charset="0"/>
                        <a:cs typeface="Calibri" charset="0"/>
                      </a:endParaRPr>
                    </a:p>
                  </a:txBody>
                  <a:tcPr marL="91440" marR="91440"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Stress Test Lab: blur, light, rotation, noise</a:t>
                      </a:r>
                      <a:endParaRPr lang="en-US" sz="1200" dirty="0">
                        <a:latin typeface="Calibri" charset="0"/>
                        <a:ea typeface="Calibri" charset="0"/>
                        <a:cs typeface="Calibri" charset="0"/>
                      </a:endParaRPr>
                    </a:p>
                  </a:txBody>
                  <a:tcPr marL="91440" marR="91440"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600" b="1" dirty="0">
                <a:solidFill>
                  <a:schemeClr val="tx1"/>
                </a:solidFill>
              </a:rPr>
              <a:t>05 | Key Features — What Makes It Different</a:t>
            </a:r>
            <a:endParaRPr lang="en-US" sz="2600" dirty="0"/>
          </a:p>
        </p:txBody>
      </p:sp>
      <p:sp>
        <p:nvSpPr>
          <p:cNvPr id="3" name="Smart Pet Gate card"/>
          <p:cNvSpPr/>
          <p:nvPr/>
        </p:nvSpPr>
        <p:spPr>
          <a:xfrm>
            <a:off x="457200" y="1005840"/>
            <a:ext cx="2606040" cy="1645920"/>
          </a:xfrm>
          <a:prstGeom prst="roundRect">
            <a:avLst>
              <a:gd name="adj" fmla="val 4444"/>
            </a:avLst>
          </a:prstGeom>
          <a:solidFill>
            <a:schemeClr val="bg2"/>
          </a:solidFill>
          <a:ln/>
        </p:spPr>
      </p:sp>
      <p:sp>
        <p:nvSpPr>
          <p:cNvPr id="4" name="Smart Pet Gate circle"/>
          <p:cNvSpPr/>
          <p:nvPr/>
        </p:nvSpPr>
        <p:spPr>
          <a:xfrm>
            <a:off x="640080" y="1188720"/>
            <a:ext cx="457200" cy="457200"/>
          </a:xfrm>
          <a:prstGeom prst="ellipse">
            <a:avLst/>
          </a:prstGeom>
          <a:solidFill>
            <a:schemeClr val="accent2"/>
          </a:solidFill>
          <a:ln/>
        </p:spPr>
      </p:sp>
      <p:pic>
        <p:nvPicPr>
          <p:cNvPr id="5" name="Image 0" descr="Smart Pet Gate">    </p:cNvPr>
          <p:cNvPicPr>
            <a:picLocks noChangeAspect="1"/>
          </p:cNvPicPr>
          <p:nvPr/>
        </p:nvPicPr>
        <p:blipFill>
          <a:blip r:embed="rId1"/>
          <a:stretch>
            <a:fillRect/>
          </a:stretch>
        </p:blipFill>
        <p:spPr>
          <a:xfrm>
            <a:off x="754380" y="1303020"/>
            <a:ext cx="228600" cy="228600"/>
          </a:xfrm>
          <a:prstGeom prst="rect">
            <a:avLst/>
          </a:prstGeom>
        </p:spPr>
      </p:pic>
      <p:sp>
        <p:nvSpPr>
          <p:cNvPr id="6" name="Text 3"/>
          <p:cNvSpPr txBox="1"/>
          <p:nvPr/>
        </p:nvSpPr>
        <p:spPr>
          <a:xfrm>
            <a:off x="1188720" y="1188720"/>
            <a:ext cx="1783080" cy="457200"/>
          </a:xfrm>
          <a:prstGeom prst="rect">
            <a:avLst/>
          </a:prstGeom>
          <a:noFill/>
          <a:ln/>
        </p:spPr>
        <p:txBody>
          <a:bodyPr wrap="square" lIns="0" tIns="0" rIns="0" bIns="0" rtlCol="0" anchor="ctr"/>
          <a:lstStyle/>
          <a:p>
            <a:pPr indent="0" marL="0">
              <a:buNone/>
            </a:pPr>
            <a:r>
              <a:rPr lang="en-US" sz="1400" b="1" dirty="0">
                <a:solidFill>
                  <a:schemeClr val="tx1"/>
                </a:solidFill>
              </a:rPr>
              <a:t>Smart Pet Gate</a:t>
            </a:r>
            <a:endParaRPr lang="en-US" sz="1400" dirty="0"/>
          </a:p>
        </p:txBody>
      </p:sp>
      <p:sp>
        <p:nvSpPr>
          <p:cNvPr id="7" name="Text 4"/>
          <p:cNvSpPr txBox="1"/>
          <p:nvPr/>
        </p:nvSpPr>
        <p:spPr>
          <a:xfrm>
            <a:off x="640080" y="1755648"/>
            <a:ext cx="2286000" cy="822960"/>
          </a:xfrm>
          <a:prstGeom prst="rect">
            <a:avLst/>
          </a:prstGeom>
          <a:noFill/>
          <a:ln/>
        </p:spPr>
        <p:txBody>
          <a:bodyPr wrap="square" lIns="0" tIns="0" rIns="0" bIns="0" rtlCol="0" anchor="t"/>
          <a:lstStyle/>
          <a:p>
            <a:pPr indent="0" marL="0">
              <a:buNone/>
            </a:pPr>
            <a:r>
              <a:rPr lang="en-US" sz="1200" dirty="0">
                <a:solidFill>
                  <a:schemeClr val="tx2"/>
                </a:solidFill>
              </a:rPr>
              <a:t>Checks first whether a cat or dog is in the photo. If not, says “No pet found” instead of guessing.</a:t>
            </a:r>
            <a:endParaRPr lang="en-US" sz="1200" dirty="0"/>
          </a:p>
        </p:txBody>
      </p:sp>
      <p:sp>
        <p:nvSpPr>
          <p:cNvPr id="8" name="Breed Finder card"/>
          <p:cNvSpPr/>
          <p:nvPr/>
        </p:nvSpPr>
        <p:spPr>
          <a:xfrm>
            <a:off x="3268980" y="1005840"/>
            <a:ext cx="2606040" cy="1645920"/>
          </a:xfrm>
          <a:prstGeom prst="roundRect">
            <a:avLst>
              <a:gd name="adj" fmla="val 4444"/>
            </a:avLst>
          </a:prstGeom>
          <a:solidFill>
            <a:schemeClr val="bg2"/>
          </a:solidFill>
          <a:ln/>
        </p:spPr>
      </p:sp>
      <p:sp>
        <p:nvSpPr>
          <p:cNvPr id="9" name="Breed Finder circle"/>
          <p:cNvSpPr/>
          <p:nvPr/>
        </p:nvSpPr>
        <p:spPr>
          <a:xfrm>
            <a:off x="3451860" y="1188720"/>
            <a:ext cx="457200" cy="457200"/>
          </a:xfrm>
          <a:prstGeom prst="ellipse">
            <a:avLst/>
          </a:prstGeom>
          <a:solidFill>
            <a:schemeClr val="accent1"/>
          </a:solidFill>
          <a:ln/>
        </p:spPr>
      </p:sp>
      <p:pic>
        <p:nvPicPr>
          <p:cNvPr id="10" name="Image 1" descr="Breed Finder">    </p:cNvPr>
          <p:cNvPicPr>
            <a:picLocks noChangeAspect="1"/>
          </p:cNvPicPr>
          <p:nvPr/>
        </p:nvPicPr>
        <p:blipFill>
          <a:blip r:embed="rId2"/>
          <a:stretch>
            <a:fillRect/>
          </a:stretch>
        </p:blipFill>
        <p:spPr>
          <a:xfrm>
            <a:off x="3566160" y="1303020"/>
            <a:ext cx="228600" cy="228600"/>
          </a:xfrm>
          <a:prstGeom prst="rect">
            <a:avLst/>
          </a:prstGeom>
        </p:spPr>
      </p:pic>
      <p:sp>
        <p:nvSpPr>
          <p:cNvPr id="11" name="Text 7"/>
          <p:cNvSpPr txBox="1"/>
          <p:nvPr/>
        </p:nvSpPr>
        <p:spPr>
          <a:xfrm>
            <a:off x="4000500" y="1188720"/>
            <a:ext cx="1783080" cy="457200"/>
          </a:xfrm>
          <a:prstGeom prst="rect">
            <a:avLst/>
          </a:prstGeom>
          <a:noFill/>
          <a:ln/>
        </p:spPr>
        <p:txBody>
          <a:bodyPr wrap="square" lIns="0" tIns="0" rIns="0" bIns="0" rtlCol="0" anchor="ctr"/>
          <a:lstStyle/>
          <a:p>
            <a:pPr indent="0" marL="0">
              <a:buNone/>
            </a:pPr>
            <a:r>
              <a:rPr lang="en-US" sz="1400" b="1" dirty="0">
                <a:solidFill>
                  <a:schemeClr val="tx1"/>
                </a:solidFill>
              </a:rPr>
              <a:t>Breed Finder</a:t>
            </a:r>
            <a:endParaRPr lang="en-US" sz="1400" dirty="0"/>
          </a:p>
        </p:txBody>
      </p:sp>
      <p:sp>
        <p:nvSpPr>
          <p:cNvPr id="12" name="Text 8"/>
          <p:cNvSpPr txBox="1"/>
          <p:nvPr/>
        </p:nvSpPr>
        <p:spPr>
          <a:xfrm>
            <a:off x="3451860" y="1755648"/>
            <a:ext cx="2286000" cy="822960"/>
          </a:xfrm>
          <a:prstGeom prst="rect">
            <a:avLst/>
          </a:prstGeom>
          <a:noFill/>
          <a:ln/>
        </p:spPr>
        <p:txBody>
          <a:bodyPr wrap="square" lIns="0" tIns="0" rIns="0" bIns="0" rtlCol="0" anchor="t"/>
          <a:lstStyle/>
          <a:p>
            <a:pPr indent="0" marL="0">
              <a:buNone/>
            </a:pPr>
            <a:r>
              <a:rPr lang="en-US" sz="1200" dirty="0">
                <a:solidFill>
                  <a:schemeClr val="tx2"/>
                </a:solidFill>
              </a:rPr>
              <a:t>Top 3 of 37 breeds with confidence bars. Shows “Uncertain” when the two models disagree.</a:t>
            </a:r>
            <a:endParaRPr lang="en-US" sz="1200" dirty="0"/>
          </a:p>
        </p:txBody>
      </p:sp>
      <p:sp>
        <p:nvSpPr>
          <p:cNvPr id="13" name="Why-View (Grad-CAM) card"/>
          <p:cNvSpPr/>
          <p:nvPr/>
        </p:nvSpPr>
        <p:spPr>
          <a:xfrm>
            <a:off x="6080760" y="1005840"/>
            <a:ext cx="2606040" cy="1645920"/>
          </a:xfrm>
          <a:prstGeom prst="roundRect">
            <a:avLst>
              <a:gd name="adj" fmla="val 4444"/>
            </a:avLst>
          </a:prstGeom>
          <a:solidFill>
            <a:schemeClr val="bg2"/>
          </a:solidFill>
          <a:ln/>
        </p:spPr>
      </p:sp>
      <p:sp>
        <p:nvSpPr>
          <p:cNvPr id="14" name="Why-View (Grad-CAM) circle"/>
          <p:cNvSpPr/>
          <p:nvPr/>
        </p:nvSpPr>
        <p:spPr>
          <a:xfrm>
            <a:off x="6263640" y="1188720"/>
            <a:ext cx="457200" cy="457200"/>
          </a:xfrm>
          <a:prstGeom prst="ellipse">
            <a:avLst/>
          </a:prstGeom>
          <a:solidFill>
            <a:schemeClr val="accent3"/>
          </a:solidFill>
          <a:ln/>
        </p:spPr>
      </p:sp>
      <p:pic>
        <p:nvPicPr>
          <p:cNvPr id="15" name="Image 2" descr="Why-View (Grad-CAM)">    </p:cNvPr>
          <p:cNvPicPr>
            <a:picLocks noChangeAspect="1"/>
          </p:cNvPicPr>
          <p:nvPr/>
        </p:nvPicPr>
        <p:blipFill>
          <a:blip r:embed="rId3"/>
          <a:stretch>
            <a:fillRect/>
          </a:stretch>
        </p:blipFill>
        <p:spPr>
          <a:xfrm>
            <a:off x="6377940" y="1303020"/>
            <a:ext cx="228600" cy="228600"/>
          </a:xfrm>
          <a:prstGeom prst="rect">
            <a:avLst/>
          </a:prstGeom>
        </p:spPr>
      </p:pic>
      <p:sp>
        <p:nvSpPr>
          <p:cNvPr id="16" name="Text 11"/>
          <p:cNvSpPr txBox="1"/>
          <p:nvPr/>
        </p:nvSpPr>
        <p:spPr>
          <a:xfrm>
            <a:off x="6812280" y="1188720"/>
            <a:ext cx="1783080" cy="457200"/>
          </a:xfrm>
          <a:prstGeom prst="rect">
            <a:avLst/>
          </a:prstGeom>
          <a:noFill/>
          <a:ln/>
        </p:spPr>
        <p:txBody>
          <a:bodyPr wrap="square" lIns="0" tIns="0" rIns="0" bIns="0" rtlCol="0" anchor="ctr"/>
          <a:lstStyle/>
          <a:p>
            <a:pPr indent="0" marL="0">
              <a:buNone/>
            </a:pPr>
            <a:r>
              <a:rPr lang="en-US" sz="1400" b="1" dirty="0">
                <a:solidFill>
                  <a:schemeClr val="tx1"/>
                </a:solidFill>
              </a:rPr>
              <a:t>Why-View (Grad-CAM)</a:t>
            </a:r>
            <a:endParaRPr lang="en-US" sz="1400" dirty="0"/>
          </a:p>
        </p:txBody>
      </p:sp>
      <p:sp>
        <p:nvSpPr>
          <p:cNvPr id="17" name="Text 12"/>
          <p:cNvSpPr txBox="1"/>
          <p:nvPr/>
        </p:nvSpPr>
        <p:spPr>
          <a:xfrm>
            <a:off x="6263640" y="1755648"/>
            <a:ext cx="2286000" cy="822960"/>
          </a:xfrm>
          <a:prstGeom prst="rect">
            <a:avLst/>
          </a:prstGeom>
          <a:noFill/>
          <a:ln/>
        </p:spPr>
        <p:txBody>
          <a:bodyPr wrap="square" lIns="0" tIns="0" rIns="0" bIns="0" rtlCol="0" anchor="t"/>
          <a:lstStyle/>
          <a:p>
            <a:pPr indent="0" marL="0">
              <a:buNone/>
            </a:pPr>
            <a:r>
              <a:rPr lang="en-US" sz="1200" dirty="0">
                <a:solidFill>
                  <a:schemeClr val="tx2"/>
                </a:solidFill>
              </a:rPr>
              <a:t>Heatmap shows which part of the photo the model looked at. Slide to compare.</a:t>
            </a:r>
            <a:endParaRPr lang="en-US" sz="1200" dirty="0"/>
          </a:p>
        </p:txBody>
      </p:sp>
      <p:sp>
        <p:nvSpPr>
          <p:cNvPr id="18" name="Live Camera card"/>
          <p:cNvSpPr/>
          <p:nvPr/>
        </p:nvSpPr>
        <p:spPr>
          <a:xfrm>
            <a:off x="457200" y="2788920"/>
            <a:ext cx="2606040" cy="1645920"/>
          </a:xfrm>
          <a:prstGeom prst="roundRect">
            <a:avLst>
              <a:gd name="adj" fmla="val 4444"/>
            </a:avLst>
          </a:prstGeom>
          <a:solidFill>
            <a:schemeClr val="bg2"/>
          </a:solidFill>
          <a:ln/>
        </p:spPr>
      </p:sp>
      <p:sp>
        <p:nvSpPr>
          <p:cNvPr id="19" name="Live Camera circle"/>
          <p:cNvSpPr/>
          <p:nvPr/>
        </p:nvSpPr>
        <p:spPr>
          <a:xfrm>
            <a:off x="640080" y="2971800"/>
            <a:ext cx="457200" cy="457200"/>
          </a:xfrm>
          <a:prstGeom prst="ellipse">
            <a:avLst/>
          </a:prstGeom>
          <a:solidFill>
            <a:schemeClr val="accent6"/>
          </a:solidFill>
          <a:ln/>
        </p:spPr>
      </p:sp>
      <p:pic>
        <p:nvPicPr>
          <p:cNvPr id="20" name="Image 3" descr="Live Camera">    </p:cNvPr>
          <p:cNvPicPr>
            <a:picLocks noChangeAspect="1"/>
          </p:cNvPicPr>
          <p:nvPr/>
        </p:nvPicPr>
        <p:blipFill>
          <a:blip r:embed="rId4"/>
          <a:stretch>
            <a:fillRect/>
          </a:stretch>
        </p:blipFill>
        <p:spPr>
          <a:xfrm>
            <a:off x="754380" y="3086100"/>
            <a:ext cx="228600" cy="228600"/>
          </a:xfrm>
          <a:prstGeom prst="rect">
            <a:avLst/>
          </a:prstGeom>
        </p:spPr>
      </p:pic>
      <p:sp>
        <p:nvSpPr>
          <p:cNvPr id="21" name="Text 15"/>
          <p:cNvSpPr txBox="1"/>
          <p:nvPr/>
        </p:nvSpPr>
        <p:spPr>
          <a:xfrm>
            <a:off x="1188720" y="2971800"/>
            <a:ext cx="1783080" cy="457200"/>
          </a:xfrm>
          <a:prstGeom prst="rect">
            <a:avLst/>
          </a:prstGeom>
          <a:noFill/>
          <a:ln/>
        </p:spPr>
        <p:txBody>
          <a:bodyPr wrap="square" lIns="0" tIns="0" rIns="0" bIns="0" rtlCol="0" anchor="ctr"/>
          <a:lstStyle/>
          <a:p>
            <a:pPr indent="0" marL="0">
              <a:buNone/>
            </a:pPr>
            <a:r>
              <a:rPr lang="en-US" sz="1400" b="1" dirty="0">
                <a:solidFill>
                  <a:schemeClr val="tx1"/>
                </a:solidFill>
              </a:rPr>
              <a:t>Live Camera</a:t>
            </a:r>
            <a:endParaRPr lang="en-US" sz="1400" dirty="0"/>
          </a:p>
        </p:txBody>
      </p:sp>
      <p:sp>
        <p:nvSpPr>
          <p:cNvPr id="22" name="Text 16"/>
          <p:cNvSpPr txBox="1"/>
          <p:nvPr/>
        </p:nvSpPr>
        <p:spPr>
          <a:xfrm>
            <a:off x="640080" y="3538728"/>
            <a:ext cx="2286000" cy="822960"/>
          </a:xfrm>
          <a:prstGeom prst="rect">
            <a:avLst/>
          </a:prstGeom>
          <a:noFill/>
          <a:ln/>
        </p:spPr>
        <p:txBody>
          <a:bodyPr wrap="square" lIns="0" tIns="0" rIns="0" bIns="0" rtlCol="0" anchor="t"/>
          <a:lstStyle/>
          <a:p>
            <a:pPr indent="0" marL="0">
              <a:buNone/>
            </a:pPr>
            <a:r>
              <a:rPr lang="en-US" sz="1200" dirty="0">
                <a:solidFill>
                  <a:schemeClr val="tx2"/>
                </a:solidFill>
              </a:rPr>
              <a:t>Point a phone or laptop camera and get predictions in real time.</a:t>
            </a:r>
            <a:endParaRPr lang="en-US" sz="1200" dirty="0"/>
          </a:p>
        </p:txBody>
      </p:sp>
      <p:sp>
        <p:nvSpPr>
          <p:cNvPr id="23" name="Batch Sorter card"/>
          <p:cNvSpPr/>
          <p:nvPr/>
        </p:nvSpPr>
        <p:spPr>
          <a:xfrm>
            <a:off x="3268980" y="2788920"/>
            <a:ext cx="2606040" cy="1645920"/>
          </a:xfrm>
          <a:prstGeom prst="roundRect">
            <a:avLst>
              <a:gd name="adj" fmla="val 4444"/>
            </a:avLst>
          </a:prstGeom>
          <a:solidFill>
            <a:schemeClr val="bg2"/>
          </a:solidFill>
          <a:ln/>
        </p:spPr>
      </p:sp>
      <p:sp>
        <p:nvSpPr>
          <p:cNvPr id="24" name="Batch Sorter circle"/>
          <p:cNvSpPr/>
          <p:nvPr/>
        </p:nvSpPr>
        <p:spPr>
          <a:xfrm>
            <a:off x="3451860" y="2971800"/>
            <a:ext cx="457200" cy="457200"/>
          </a:xfrm>
          <a:prstGeom prst="ellipse">
            <a:avLst/>
          </a:prstGeom>
          <a:solidFill>
            <a:schemeClr val="accent4"/>
          </a:solidFill>
          <a:ln/>
        </p:spPr>
      </p:sp>
      <p:pic>
        <p:nvPicPr>
          <p:cNvPr id="25" name="Image 4" descr="Batch Sorter">    </p:cNvPr>
          <p:cNvPicPr>
            <a:picLocks noChangeAspect="1"/>
          </p:cNvPicPr>
          <p:nvPr/>
        </p:nvPicPr>
        <p:blipFill>
          <a:blip r:embed="rId5"/>
          <a:stretch>
            <a:fillRect/>
          </a:stretch>
        </p:blipFill>
        <p:spPr>
          <a:xfrm>
            <a:off x="3566160" y="3086100"/>
            <a:ext cx="228600" cy="228600"/>
          </a:xfrm>
          <a:prstGeom prst="rect">
            <a:avLst/>
          </a:prstGeom>
        </p:spPr>
      </p:pic>
      <p:sp>
        <p:nvSpPr>
          <p:cNvPr id="26" name="Text 19"/>
          <p:cNvSpPr txBox="1"/>
          <p:nvPr/>
        </p:nvSpPr>
        <p:spPr>
          <a:xfrm>
            <a:off x="4000500" y="2971800"/>
            <a:ext cx="1783080" cy="457200"/>
          </a:xfrm>
          <a:prstGeom prst="rect">
            <a:avLst/>
          </a:prstGeom>
          <a:noFill/>
          <a:ln/>
        </p:spPr>
        <p:txBody>
          <a:bodyPr wrap="square" lIns="0" tIns="0" rIns="0" bIns="0" rtlCol="0" anchor="ctr"/>
          <a:lstStyle/>
          <a:p>
            <a:pPr indent="0" marL="0">
              <a:buNone/>
            </a:pPr>
            <a:r>
              <a:rPr lang="en-US" sz="1400" b="1" dirty="0">
                <a:solidFill>
                  <a:schemeClr val="tx1"/>
                </a:solidFill>
              </a:rPr>
              <a:t>Batch Sorter</a:t>
            </a:r>
            <a:endParaRPr lang="en-US" sz="1400" dirty="0"/>
          </a:p>
        </p:txBody>
      </p:sp>
      <p:sp>
        <p:nvSpPr>
          <p:cNvPr id="27" name="Text 20"/>
          <p:cNvSpPr txBox="1"/>
          <p:nvPr/>
        </p:nvSpPr>
        <p:spPr>
          <a:xfrm>
            <a:off x="3451860" y="3538728"/>
            <a:ext cx="2286000" cy="822960"/>
          </a:xfrm>
          <a:prstGeom prst="rect">
            <a:avLst/>
          </a:prstGeom>
          <a:noFill/>
          <a:ln/>
        </p:spPr>
        <p:txBody>
          <a:bodyPr wrap="square" lIns="0" tIns="0" rIns="0" bIns="0" rtlCol="0" anchor="t"/>
          <a:lstStyle/>
          <a:p>
            <a:pPr indent="0" marL="0">
              <a:buNone/>
            </a:pPr>
            <a:r>
              <a:rPr lang="en-US" sz="1200" dirty="0">
                <a:solidFill>
                  <a:schemeClr val="tx2"/>
                </a:solidFill>
              </a:rPr>
              <a:t>Drop up to 50 photos; auto-sorted into Cats / Dogs / Other. Export as ZIP or CSV.</a:t>
            </a:r>
            <a:endParaRPr lang="en-US" sz="1200" dirty="0"/>
          </a:p>
        </p:txBody>
      </p:sp>
      <p:sp>
        <p:nvSpPr>
          <p:cNvPr id="28" name="Stress Test Lab card"/>
          <p:cNvSpPr/>
          <p:nvPr/>
        </p:nvSpPr>
        <p:spPr>
          <a:xfrm>
            <a:off x="6080760" y="2788920"/>
            <a:ext cx="2606040" cy="1645920"/>
          </a:xfrm>
          <a:prstGeom prst="roundRect">
            <a:avLst>
              <a:gd name="adj" fmla="val 4444"/>
            </a:avLst>
          </a:prstGeom>
          <a:solidFill>
            <a:schemeClr val="bg2"/>
          </a:solidFill>
          <a:ln/>
        </p:spPr>
      </p:sp>
      <p:sp>
        <p:nvSpPr>
          <p:cNvPr id="29" name="Stress Test Lab circle"/>
          <p:cNvSpPr/>
          <p:nvPr/>
        </p:nvSpPr>
        <p:spPr>
          <a:xfrm>
            <a:off x="6263640" y="2971800"/>
            <a:ext cx="457200" cy="457200"/>
          </a:xfrm>
          <a:prstGeom prst="ellipse">
            <a:avLst/>
          </a:prstGeom>
          <a:solidFill>
            <a:schemeClr val="accent5"/>
          </a:solidFill>
          <a:ln/>
        </p:spPr>
      </p:sp>
      <p:pic>
        <p:nvPicPr>
          <p:cNvPr id="30" name="Image 5" descr="Stress Test Lab">    </p:cNvPr>
          <p:cNvPicPr>
            <a:picLocks noChangeAspect="1"/>
          </p:cNvPicPr>
          <p:nvPr/>
        </p:nvPicPr>
        <p:blipFill>
          <a:blip r:embed="rId6"/>
          <a:stretch>
            <a:fillRect/>
          </a:stretch>
        </p:blipFill>
        <p:spPr>
          <a:xfrm>
            <a:off x="6377940" y="3086100"/>
            <a:ext cx="228600" cy="228600"/>
          </a:xfrm>
          <a:prstGeom prst="rect">
            <a:avLst/>
          </a:prstGeom>
        </p:spPr>
      </p:pic>
      <p:sp>
        <p:nvSpPr>
          <p:cNvPr id="31" name="Text 23"/>
          <p:cNvSpPr txBox="1"/>
          <p:nvPr/>
        </p:nvSpPr>
        <p:spPr>
          <a:xfrm>
            <a:off x="6812280" y="2971800"/>
            <a:ext cx="1783080" cy="457200"/>
          </a:xfrm>
          <a:prstGeom prst="rect">
            <a:avLst/>
          </a:prstGeom>
          <a:noFill/>
          <a:ln/>
        </p:spPr>
        <p:txBody>
          <a:bodyPr wrap="square" lIns="0" tIns="0" rIns="0" bIns="0" rtlCol="0" anchor="ctr"/>
          <a:lstStyle/>
          <a:p>
            <a:pPr indent="0" marL="0">
              <a:buNone/>
            </a:pPr>
            <a:r>
              <a:rPr lang="en-US" sz="1400" b="1" dirty="0">
                <a:solidFill>
                  <a:schemeClr val="tx1"/>
                </a:solidFill>
              </a:rPr>
              <a:t>Stress Test Lab</a:t>
            </a:r>
            <a:endParaRPr lang="en-US" sz="1400" dirty="0"/>
          </a:p>
        </p:txBody>
      </p:sp>
      <p:sp>
        <p:nvSpPr>
          <p:cNvPr id="32" name="Text 24"/>
          <p:cNvSpPr txBox="1"/>
          <p:nvPr/>
        </p:nvSpPr>
        <p:spPr>
          <a:xfrm>
            <a:off x="6263640" y="3538728"/>
            <a:ext cx="2286000" cy="822960"/>
          </a:xfrm>
          <a:prstGeom prst="rect">
            <a:avLst/>
          </a:prstGeom>
          <a:noFill/>
          <a:ln/>
        </p:spPr>
        <p:txBody>
          <a:bodyPr wrap="square" lIns="0" tIns="0" rIns="0" bIns="0" rtlCol="0" anchor="t"/>
          <a:lstStyle/>
          <a:p>
            <a:pPr indent="0" marL="0">
              <a:buNone/>
            </a:pPr>
            <a:r>
              <a:rPr lang="en-US" sz="1200" dirty="0">
                <a:solidFill>
                  <a:schemeClr val="tx2"/>
                </a:solidFill>
              </a:rPr>
              <a:t>Add blur, darkness, rotation or noise and watch confidence change. Gives a robustness score.</a:t>
            </a:r>
            <a:endParaRPr lang="en-US" sz="12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600" b="1" dirty="0">
                <a:solidFill>
                  <a:schemeClr val="tx1"/>
                </a:solidFill>
              </a:rPr>
              <a:t>06 | System Architecture</a:t>
            </a:r>
            <a:endParaRPr lang="en-US" sz="2600" dirty="0"/>
          </a:p>
        </p:txBody>
      </p:sp>
      <p:sp>
        <p:nvSpPr>
          <p:cNvPr id="3" name="Text 1"/>
          <p:cNvSpPr txBox="1"/>
          <p:nvPr/>
        </p:nvSpPr>
        <p:spPr>
          <a:xfrm>
            <a:off x="457200" y="914400"/>
            <a:ext cx="5486400" cy="274320"/>
          </a:xfrm>
          <a:prstGeom prst="rect">
            <a:avLst/>
          </a:prstGeom>
          <a:noFill/>
          <a:ln/>
        </p:spPr>
        <p:txBody>
          <a:bodyPr wrap="square" lIns="0" tIns="0" rIns="0" bIns="0" rtlCol="0" anchor="ctr"/>
          <a:lstStyle/>
          <a:p>
            <a:pPr indent="0" marL="0">
              <a:buNone/>
            </a:pPr>
            <a:r>
              <a:rPr lang="en-US" sz="1000" b="1" spc="100" kern="0" dirty="0">
                <a:solidFill>
                  <a:schemeClr val="accent1"/>
                </a:solidFill>
              </a:rPr>
              <a:t>ONLINE — when a user gives a photo</a:t>
            </a:r>
            <a:endParaRPr lang="en-US" sz="1000" dirty="0"/>
          </a:p>
        </p:txBody>
      </p:sp>
      <p:sp>
        <p:nvSpPr>
          <p:cNvPr id="4" name="React Web App"/>
          <p:cNvSpPr/>
          <p:nvPr/>
        </p:nvSpPr>
        <p:spPr>
          <a:xfrm>
            <a:off x="457200" y="1234440"/>
            <a:ext cx="1188720" cy="868680"/>
          </a:xfrm>
          <a:prstGeom prst="roundRect">
            <a:avLst>
              <a:gd name="adj" fmla="val 8421"/>
            </a:avLst>
          </a:prstGeom>
          <a:solidFill>
            <a:schemeClr val="tx1"/>
          </a:solidFill>
          <a:ln/>
        </p:spPr>
      </p:sp>
      <p:sp>
        <p:nvSpPr>
          <p:cNvPr id="5" name="Text 3"/>
          <p:cNvSpPr txBox="1"/>
          <p:nvPr/>
        </p:nvSpPr>
        <p:spPr>
          <a:xfrm>
            <a:off x="502920" y="1234440"/>
            <a:ext cx="1097280" cy="868680"/>
          </a:xfrm>
          <a:prstGeom prst="rect">
            <a:avLst/>
          </a:prstGeom>
          <a:noFill/>
          <a:ln/>
        </p:spPr>
        <p:txBody>
          <a:bodyPr wrap="square" lIns="0" tIns="0" rIns="0" bIns="0" rtlCol="0" anchor="ctr"/>
          <a:lstStyle/>
          <a:p>
            <a:pPr algn="ctr" indent="0" marL="0">
              <a:buNone/>
            </a:pPr>
            <a:r>
              <a:rPr lang="en-US" sz="1200" b="1" dirty="0">
                <a:solidFill>
                  <a:schemeClr val="bg1"/>
                </a:solidFill>
              </a:rPr>
              <a:t>React Web App</a:t>
            </a:r>
            <a:endParaRPr lang="en-US" sz="1200" dirty="0"/>
          </a:p>
          <a:p>
            <a:pPr algn="ctr" indent="0" marL="0">
              <a:buNone/>
            </a:pPr>
            <a:r>
              <a:rPr lang="en-US" sz="1000" dirty="0">
                <a:solidFill>
                  <a:schemeClr val="bg1"/>
                </a:solidFill>
              </a:rPr>
              <a:t>upload · camera · batch</a:t>
            </a:r>
            <a:endParaRPr lang="en-US" sz="1200" dirty="0"/>
          </a:p>
        </p:txBody>
      </p:sp>
      <p:sp>
        <p:nvSpPr>
          <p:cNvPr id="6" name="arrow"/>
          <p:cNvSpPr/>
          <p:nvPr/>
        </p:nvSpPr>
        <p:spPr>
          <a:xfrm>
            <a:off x="1664208" y="1668780"/>
            <a:ext cx="182880" cy="0"/>
          </a:xfrm>
          <a:prstGeom prst="line">
            <a:avLst/>
          </a:prstGeom>
          <a:noFill/>
          <a:ln w="19050">
            <a:solidFill>
              <a:schemeClr val="tx2"/>
            </a:solidFill>
            <a:prstDash val="solid"/>
            <a:tailEnd type="triangle"/>
          </a:ln>
        </p:spPr>
      </p:sp>
      <p:sp>
        <p:nvSpPr>
          <p:cNvPr id="7" name="FastAPI Server"/>
          <p:cNvSpPr/>
          <p:nvPr/>
        </p:nvSpPr>
        <p:spPr>
          <a:xfrm>
            <a:off x="1865376" y="1234440"/>
            <a:ext cx="1188720" cy="868680"/>
          </a:xfrm>
          <a:prstGeom prst="roundRect">
            <a:avLst>
              <a:gd name="adj" fmla="val 8421"/>
            </a:avLst>
          </a:prstGeom>
          <a:solidFill>
            <a:schemeClr val="tx1"/>
          </a:solidFill>
          <a:ln/>
        </p:spPr>
      </p:sp>
      <p:sp>
        <p:nvSpPr>
          <p:cNvPr id="8" name="Text 6"/>
          <p:cNvSpPr txBox="1"/>
          <p:nvPr/>
        </p:nvSpPr>
        <p:spPr>
          <a:xfrm>
            <a:off x="1911096" y="1234440"/>
            <a:ext cx="1097280" cy="868680"/>
          </a:xfrm>
          <a:prstGeom prst="rect">
            <a:avLst/>
          </a:prstGeom>
          <a:noFill/>
          <a:ln/>
        </p:spPr>
        <p:txBody>
          <a:bodyPr wrap="square" lIns="0" tIns="0" rIns="0" bIns="0" rtlCol="0" anchor="ctr"/>
          <a:lstStyle/>
          <a:p>
            <a:pPr algn="ctr" indent="0" marL="0">
              <a:buNone/>
            </a:pPr>
            <a:r>
              <a:rPr lang="en-US" sz="1200" b="1" dirty="0">
                <a:solidFill>
                  <a:schemeClr val="bg1"/>
                </a:solidFill>
              </a:rPr>
              <a:t>FastAPI Server</a:t>
            </a:r>
            <a:endParaRPr lang="en-US" sz="1200" dirty="0"/>
          </a:p>
          <a:p>
            <a:pPr algn="ctr" indent="0" marL="0">
              <a:buNone/>
            </a:pPr>
            <a:r>
              <a:rPr lang="en-US" sz="1000" dirty="0">
                <a:solidFill>
                  <a:schemeClr val="bg1"/>
                </a:solidFill>
              </a:rPr>
              <a:t>Python REST API</a:t>
            </a:r>
            <a:endParaRPr lang="en-US" sz="1200" dirty="0"/>
          </a:p>
        </p:txBody>
      </p:sp>
      <p:sp>
        <p:nvSpPr>
          <p:cNvPr id="9" name="arrow"/>
          <p:cNvSpPr/>
          <p:nvPr/>
        </p:nvSpPr>
        <p:spPr>
          <a:xfrm>
            <a:off x="3072384" y="1668780"/>
            <a:ext cx="182880" cy="0"/>
          </a:xfrm>
          <a:prstGeom prst="line">
            <a:avLst/>
          </a:prstGeom>
          <a:noFill/>
          <a:ln w="19050">
            <a:solidFill>
              <a:schemeClr val="tx2"/>
            </a:solidFill>
            <a:prstDash val="solid"/>
            <a:tailEnd type="triangle"/>
          </a:ln>
        </p:spPr>
      </p:sp>
      <p:sp>
        <p:nvSpPr>
          <p:cNvPr id="10" name="1. Pet Gate"/>
          <p:cNvSpPr/>
          <p:nvPr/>
        </p:nvSpPr>
        <p:spPr>
          <a:xfrm>
            <a:off x="3273552" y="1234440"/>
            <a:ext cx="1188720" cy="868680"/>
          </a:xfrm>
          <a:prstGeom prst="roundRect">
            <a:avLst>
              <a:gd name="adj" fmla="val 8421"/>
            </a:avLst>
          </a:prstGeom>
          <a:solidFill>
            <a:schemeClr val="accent2"/>
          </a:solidFill>
          <a:ln/>
        </p:spPr>
      </p:sp>
      <p:sp>
        <p:nvSpPr>
          <p:cNvPr id="11" name="Text 9"/>
          <p:cNvSpPr txBox="1"/>
          <p:nvPr/>
        </p:nvSpPr>
        <p:spPr>
          <a:xfrm>
            <a:off x="3319272" y="1234440"/>
            <a:ext cx="1097280" cy="868680"/>
          </a:xfrm>
          <a:prstGeom prst="rect">
            <a:avLst/>
          </a:prstGeom>
          <a:noFill/>
          <a:ln/>
        </p:spPr>
        <p:txBody>
          <a:bodyPr wrap="square" lIns="0" tIns="0" rIns="0" bIns="0" rtlCol="0" anchor="ctr"/>
          <a:lstStyle/>
          <a:p>
            <a:pPr algn="ctr" indent="0" marL="0">
              <a:buNone/>
            </a:pPr>
            <a:r>
              <a:rPr lang="en-US" sz="1200" b="1" dirty="0">
                <a:solidFill>
                  <a:schemeClr val="bg1"/>
                </a:solidFill>
              </a:rPr>
              <a:t>1. Pet Gate</a:t>
            </a:r>
            <a:endParaRPr lang="en-US" sz="1200" dirty="0"/>
          </a:p>
          <a:p>
            <a:pPr algn="ctr" indent="0" marL="0">
              <a:buNone/>
            </a:pPr>
            <a:r>
              <a:rPr lang="en-US" sz="1000" dirty="0">
                <a:solidFill>
                  <a:schemeClr val="bg1"/>
                </a:solidFill>
              </a:rPr>
              <a:t>MobileNetV2 (ImageNet)</a:t>
            </a:r>
            <a:endParaRPr lang="en-US" sz="1200" dirty="0"/>
          </a:p>
        </p:txBody>
      </p:sp>
      <p:sp>
        <p:nvSpPr>
          <p:cNvPr id="12" name="arrow"/>
          <p:cNvSpPr/>
          <p:nvPr/>
        </p:nvSpPr>
        <p:spPr>
          <a:xfrm>
            <a:off x="4480560" y="1668780"/>
            <a:ext cx="182880" cy="0"/>
          </a:xfrm>
          <a:prstGeom prst="line">
            <a:avLst/>
          </a:prstGeom>
          <a:noFill/>
          <a:ln w="19050">
            <a:solidFill>
              <a:schemeClr val="tx2"/>
            </a:solidFill>
            <a:prstDash val="solid"/>
            <a:tailEnd type="triangle"/>
          </a:ln>
        </p:spPr>
      </p:sp>
      <p:sp>
        <p:nvSpPr>
          <p:cNvPr id="13" name="2. Species"/>
          <p:cNvSpPr/>
          <p:nvPr/>
        </p:nvSpPr>
        <p:spPr>
          <a:xfrm>
            <a:off x="4681728" y="1234440"/>
            <a:ext cx="1188720" cy="868680"/>
          </a:xfrm>
          <a:prstGeom prst="roundRect">
            <a:avLst>
              <a:gd name="adj" fmla="val 8421"/>
            </a:avLst>
          </a:prstGeom>
          <a:solidFill>
            <a:schemeClr val="accent1"/>
          </a:solidFill>
          <a:ln/>
        </p:spPr>
      </p:sp>
      <p:sp>
        <p:nvSpPr>
          <p:cNvPr id="14" name="Text 12"/>
          <p:cNvSpPr txBox="1"/>
          <p:nvPr/>
        </p:nvSpPr>
        <p:spPr>
          <a:xfrm>
            <a:off x="4727448" y="1234440"/>
            <a:ext cx="1097280" cy="868680"/>
          </a:xfrm>
          <a:prstGeom prst="rect">
            <a:avLst/>
          </a:prstGeom>
          <a:noFill/>
          <a:ln/>
        </p:spPr>
        <p:txBody>
          <a:bodyPr wrap="square" lIns="0" tIns="0" rIns="0" bIns="0" rtlCol="0" anchor="ctr"/>
          <a:lstStyle/>
          <a:p>
            <a:pPr algn="ctr" indent="0" marL="0">
              <a:buNone/>
            </a:pPr>
            <a:r>
              <a:rPr lang="en-US" sz="1200" b="1" dirty="0">
                <a:solidFill>
                  <a:schemeClr val="bg1"/>
                </a:solidFill>
              </a:rPr>
              <a:t>2. Species</a:t>
            </a:r>
            <a:endParaRPr lang="en-US" sz="1200" dirty="0"/>
          </a:p>
          <a:p>
            <a:pPr algn="ctr" indent="0" marL="0">
              <a:buNone/>
            </a:pPr>
            <a:r>
              <a:rPr lang="en-US" sz="1000" dirty="0">
                <a:solidFill>
                  <a:schemeClr val="bg1"/>
                </a:solidFill>
              </a:rPr>
              <a:t>Cat / Dog model</a:t>
            </a:r>
            <a:endParaRPr lang="en-US" sz="1200" dirty="0"/>
          </a:p>
        </p:txBody>
      </p:sp>
      <p:sp>
        <p:nvSpPr>
          <p:cNvPr id="15" name="arrow"/>
          <p:cNvSpPr/>
          <p:nvPr/>
        </p:nvSpPr>
        <p:spPr>
          <a:xfrm>
            <a:off x="5888736" y="1668780"/>
            <a:ext cx="182880" cy="0"/>
          </a:xfrm>
          <a:prstGeom prst="line">
            <a:avLst/>
          </a:prstGeom>
          <a:noFill/>
          <a:ln w="19050">
            <a:solidFill>
              <a:schemeClr val="tx2"/>
            </a:solidFill>
            <a:prstDash val="solid"/>
            <a:tailEnd type="triangle"/>
          </a:ln>
        </p:spPr>
      </p:sp>
      <p:sp>
        <p:nvSpPr>
          <p:cNvPr id="16" name="3. Breed"/>
          <p:cNvSpPr/>
          <p:nvPr/>
        </p:nvSpPr>
        <p:spPr>
          <a:xfrm>
            <a:off x="6089904" y="1234440"/>
            <a:ext cx="1188720" cy="868680"/>
          </a:xfrm>
          <a:prstGeom prst="roundRect">
            <a:avLst>
              <a:gd name="adj" fmla="val 8421"/>
            </a:avLst>
          </a:prstGeom>
          <a:solidFill>
            <a:schemeClr val="accent3"/>
          </a:solidFill>
          <a:ln/>
        </p:spPr>
      </p:sp>
      <p:sp>
        <p:nvSpPr>
          <p:cNvPr id="17" name="Text 15"/>
          <p:cNvSpPr txBox="1"/>
          <p:nvPr/>
        </p:nvSpPr>
        <p:spPr>
          <a:xfrm>
            <a:off x="6135624" y="1234440"/>
            <a:ext cx="1097280" cy="868680"/>
          </a:xfrm>
          <a:prstGeom prst="rect">
            <a:avLst/>
          </a:prstGeom>
          <a:noFill/>
          <a:ln/>
        </p:spPr>
        <p:txBody>
          <a:bodyPr wrap="square" lIns="0" tIns="0" rIns="0" bIns="0" rtlCol="0" anchor="ctr"/>
          <a:lstStyle/>
          <a:p>
            <a:pPr algn="ctr" indent="0" marL="0">
              <a:buNone/>
            </a:pPr>
            <a:r>
              <a:rPr lang="en-US" sz="1200" b="1" dirty="0">
                <a:solidFill>
                  <a:schemeClr val="bg1"/>
                </a:solidFill>
              </a:rPr>
              <a:t>3. Breed</a:t>
            </a:r>
            <a:endParaRPr lang="en-US" sz="1200" dirty="0"/>
          </a:p>
          <a:p>
            <a:pPr algn="ctr" indent="0" marL="0">
              <a:buNone/>
            </a:pPr>
            <a:r>
              <a:rPr lang="en-US" sz="1000" dirty="0">
                <a:solidFill>
                  <a:schemeClr val="bg1"/>
                </a:solidFill>
              </a:rPr>
              <a:t>37-breed model</a:t>
            </a:r>
            <a:endParaRPr lang="en-US" sz="1200" dirty="0"/>
          </a:p>
        </p:txBody>
      </p:sp>
      <p:sp>
        <p:nvSpPr>
          <p:cNvPr id="18" name="arrow"/>
          <p:cNvSpPr/>
          <p:nvPr/>
        </p:nvSpPr>
        <p:spPr>
          <a:xfrm>
            <a:off x="7296912" y="1668780"/>
            <a:ext cx="182880" cy="0"/>
          </a:xfrm>
          <a:prstGeom prst="line">
            <a:avLst/>
          </a:prstGeom>
          <a:noFill/>
          <a:ln w="19050">
            <a:solidFill>
              <a:schemeClr val="tx2"/>
            </a:solidFill>
            <a:prstDash val="solid"/>
            <a:tailEnd type="triangle"/>
          </a:ln>
        </p:spPr>
      </p:sp>
      <p:sp>
        <p:nvSpPr>
          <p:cNvPr id="19" name="4. Grad-CAM"/>
          <p:cNvSpPr/>
          <p:nvPr/>
        </p:nvSpPr>
        <p:spPr>
          <a:xfrm>
            <a:off x="7498080" y="1234440"/>
            <a:ext cx="1188720" cy="868680"/>
          </a:xfrm>
          <a:prstGeom prst="roundRect">
            <a:avLst>
              <a:gd name="adj" fmla="val 8421"/>
            </a:avLst>
          </a:prstGeom>
          <a:solidFill>
            <a:schemeClr val="accent6"/>
          </a:solidFill>
          <a:ln/>
        </p:spPr>
      </p:sp>
      <p:sp>
        <p:nvSpPr>
          <p:cNvPr id="20" name="Text 18"/>
          <p:cNvSpPr txBox="1"/>
          <p:nvPr/>
        </p:nvSpPr>
        <p:spPr>
          <a:xfrm>
            <a:off x="7543800" y="1234440"/>
            <a:ext cx="1097280" cy="868680"/>
          </a:xfrm>
          <a:prstGeom prst="rect">
            <a:avLst/>
          </a:prstGeom>
          <a:noFill/>
          <a:ln/>
        </p:spPr>
        <p:txBody>
          <a:bodyPr wrap="square" lIns="0" tIns="0" rIns="0" bIns="0" rtlCol="0" anchor="ctr"/>
          <a:lstStyle/>
          <a:p>
            <a:pPr algn="ctr" indent="0" marL="0">
              <a:buNone/>
            </a:pPr>
            <a:r>
              <a:rPr lang="en-US" sz="1200" b="1" dirty="0">
                <a:solidFill>
                  <a:schemeClr val="bg1"/>
                </a:solidFill>
              </a:rPr>
              <a:t>4. Grad-CAM</a:t>
            </a:r>
            <a:endParaRPr lang="en-US" sz="1200" dirty="0"/>
          </a:p>
          <a:p>
            <a:pPr algn="ctr" indent="0" marL="0">
              <a:buNone/>
            </a:pPr>
            <a:r>
              <a:rPr lang="en-US" sz="1000" dirty="0">
                <a:solidFill>
                  <a:schemeClr val="bg1"/>
                </a:solidFill>
              </a:rPr>
              <a:t>heatmap image</a:t>
            </a:r>
            <a:endParaRPr lang="en-US" sz="1200" dirty="0"/>
          </a:p>
        </p:txBody>
      </p:sp>
      <p:sp>
        <p:nvSpPr>
          <p:cNvPr id="21" name="result return"/>
          <p:cNvSpPr/>
          <p:nvPr/>
        </p:nvSpPr>
        <p:spPr>
          <a:xfrm>
            <a:off x="457200" y="2286000"/>
            <a:ext cx="8229600" cy="411480"/>
          </a:xfrm>
          <a:prstGeom prst="roundRect">
            <a:avLst>
              <a:gd name="adj" fmla="val 17778"/>
            </a:avLst>
          </a:prstGeom>
          <a:solidFill>
            <a:schemeClr val="bg2"/>
          </a:solidFill>
          <a:ln/>
        </p:spPr>
      </p:sp>
      <p:sp>
        <p:nvSpPr>
          <p:cNvPr id="22" name="Text 20"/>
          <p:cNvSpPr txBox="1"/>
          <p:nvPr/>
        </p:nvSpPr>
        <p:spPr>
          <a:xfrm>
            <a:off x="548640" y="2286000"/>
            <a:ext cx="8046720" cy="411480"/>
          </a:xfrm>
          <a:prstGeom prst="rect">
            <a:avLst/>
          </a:prstGeom>
          <a:noFill/>
          <a:ln/>
        </p:spPr>
        <p:txBody>
          <a:bodyPr wrap="square" lIns="0" tIns="0" rIns="0" bIns="0" rtlCol="0" anchor="ctr"/>
          <a:lstStyle/>
          <a:p>
            <a:pPr indent="0" marL="0">
              <a:buNone/>
            </a:pPr>
            <a:r>
              <a:rPr lang="en-US" sz="1200" dirty="0">
                <a:solidFill>
                  <a:schemeClr val="tx1"/>
                </a:solidFill>
              </a:rPr>
              <a:t>←  Result back to the app: species + confidence · top-3 breeds · agreement check · heatmap</a:t>
            </a:r>
            <a:endParaRPr lang="en-US" sz="1200" dirty="0"/>
          </a:p>
        </p:txBody>
      </p:sp>
      <p:sp>
        <p:nvSpPr>
          <p:cNvPr id="23" name="Text 21"/>
          <p:cNvSpPr txBox="1"/>
          <p:nvPr/>
        </p:nvSpPr>
        <p:spPr>
          <a:xfrm>
            <a:off x="457200" y="2971800"/>
            <a:ext cx="5486400" cy="274320"/>
          </a:xfrm>
          <a:prstGeom prst="rect">
            <a:avLst/>
          </a:prstGeom>
          <a:noFill/>
          <a:ln/>
        </p:spPr>
        <p:txBody>
          <a:bodyPr wrap="square" lIns="0" tIns="0" rIns="0" bIns="0" rtlCol="0" anchor="ctr"/>
          <a:lstStyle/>
          <a:p>
            <a:pPr indent="0" marL="0">
              <a:buNone/>
            </a:pPr>
            <a:r>
              <a:rPr lang="en-US" sz="1000" b="1" spc="100" kern="0" dirty="0">
                <a:solidFill>
                  <a:schemeClr val="accent3"/>
                </a:solidFill>
              </a:rPr>
              <a:t>OFFLINE — training on Google Colab (GPU)</a:t>
            </a:r>
            <a:endParaRPr lang="en-US" sz="1000" dirty="0"/>
          </a:p>
        </p:txBody>
      </p:sp>
      <p:sp>
        <p:nvSpPr>
          <p:cNvPr id="24" name="Datasets"/>
          <p:cNvSpPr/>
          <p:nvPr/>
        </p:nvSpPr>
        <p:spPr>
          <a:xfrm>
            <a:off x="457200" y="3291840"/>
            <a:ext cx="1463040" cy="868680"/>
          </a:xfrm>
          <a:prstGeom prst="roundRect">
            <a:avLst>
              <a:gd name="adj" fmla="val 8421"/>
            </a:avLst>
          </a:prstGeom>
          <a:solidFill>
            <a:schemeClr val="bg1"/>
          </a:solidFill>
          <a:ln w="15875">
            <a:solidFill>
              <a:schemeClr val="accent3"/>
            </a:solidFill>
            <a:prstDash val="solid"/>
          </a:ln>
        </p:spPr>
      </p:sp>
      <p:sp>
        <p:nvSpPr>
          <p:cNvPr id="25" name="Text 23"/>
          <p:cNvSpPr txBox="1"/>
          <p:nvPr/>
        </p:nvSpPr>
        <p:spPr>
          <a:xfrm>
            <a:off x="502920" y="3291840"/>
            <a:ext cx="1371600" cy="868680"/>
          </a:xfrm>
          <a:prstGeom prst="rect">
            <a:avLst/>
          </a:prstGeom>
          <a:noFill/>
          <a:ln/>
        </p:spPr>
        <p:txBody>
          <a:bodyPr wrap="square" lIns="0" tIns="0" rIns="0" bIns="0" rtlCol="0" anchor="ctr"/>
          <a:lstStyle/>
          <a:p>
            <a:pPr algn="ctr" indent="0" marL="0">
              <a:buNone/>
            </a:pPr>
            <a:r>
              <a:rPr lang="en-US" sz="1200" b="1" dirty="0">
                <a:solidFill>
                  <a:schemeClr val="tx1"/>
                </a:solidFill>
              </a:rPr>
              <a:t>Datasets</a:t>
            </a:r>
            <a:endParaRPr lang="en-US" sz="1200" dirty="0"/>
          </a:p>
          <a:p>
            <a:pPr algn="ctr" indent="0" marL="0">
              <a:buNone/>
            </a:pPr>
            <a:r>
              <a:rPr lang="en-US" sz="1000" dirty="0">
                <a:solidFill>
                  <a:schemeClr val="tx2"/>
                </a:solidFill>
              </a:rPr>
              <a:t>cats_vs_dogs + Oxford-IIIT Pet</a:t>
            </a:r>
            <a:endParaRPr lang="en-US" sz="1200" dirty="0"/>
          </a:p>
        </p:txBody>
      </p:sp>
      <p:sp>
        <p:nvSpPr>
          <p:cNvPr id="26" name="arrow"/>
          <p:cNvSpPr/>
          <p:nvPr/>
        </p:nvSpPr>
        <p:spPr>
          <a:xfrm>
            <a:off x="1938528" y="3726180"/>
            <a:ext cx="192024" cy="0"/>
          </a:xfrm>
          <a:prstGeom prst="line">
            <a:avLst/>
          </a:prstGeom>
          <a:noFill/>
          <a:ln w="19050">
            <a:solidFill>
              <a:schemeClr val="tx2"/>
            </a:solidFill>
            <a:prstDash val="solid"/>
            <a:tailEnd type="triangle"/>
          </a:ln>
        </p:spPr>
      </p:sp>
      <p:sp>
        <p:nvSpPr>
          <p:cNvPr id="27" name="Pre-processing"/>
          <p:cNvSpPr/>
          <p:nvPr/>
        </p:nvSpPr>
        <p:spPr>
          <a:xfrm>
            <a:off x="2148840" y="3291840"/>
            <a:ext cx="1463040" cy="868680"/>
          </a:xfrm>
          <a:prstGeom prst="roundRect">
            <a:avLst>
              <a:gd name="adj" fmla="val 8421"/>
            </a:avLst>
          </a:prstGeom>
          <a:solidFill>
            <a:schemeClr val="bg1"/>
          </a:solidFill>
          <a:ln w="15875">
            <a:solidFill>
              <a:schemeClr val="accent3"/>
            </a:solidFill>
            <a:prstDash val="solid"/>
          </a:ln>
        </p:spPr>
      </p:sp>
      <p:sp>
        <p:nvSpPr>
          <p:cNvPr id="28" name="Text 26"/>
          <p:cNvSpPr txBox="1"/>
          <p:nvPr/>
        </p:nvSpPr>
        <p:spPr>
          <a:xfrm>
            <a:off x="2194560" y="3291840"/>
            <a:ext cx="1371600" cy="868680"/>
          </a:xfrm>
          <a:prstGeom prst="rect">
            <a:avLst/>
          </a:prstGeom>
          <a:noFill/>
          <a:ln/>
        </p:spPr>
        <p:txBody>
          <a:bodyPr wrap="square" lIns="0" tIns="0" rIns="0" bIns="0" rtlCol="0" anchor="ctr"/>
          <a:lstStyle/>
          <a:p>
            <a:pPr algn="ctr" indent="0" marL="0">
              <a:buNone/>
            </a:pPr>
            <a:r>
              <a:rPr lang="en-US" sz="1200" b="1" dirty="0">
                <a:solidFill>
                  <a:schemeClr val="tx1"/>
                </a:solidFill>
              </a:rPr>
              <a:t>Pre-processing</a:t>
            </a:r>
            <a:endParaRPr lang="en-US" sz="1200" dirty="0"/>
          </a:p>
          <a:p>
            <a:pPr algn="ctr" indent="0" marL="0">
              <a:buNone/>
            </a:pPr>
            <a:r>
              <a:rPr lang="en-US" sz="1000" dirty="0">
                <a:solidFill>
                  <a:schemeClr val="tx2"/>
                </a:solidFill>
              </a:rPr>
              <a:t>resize · normalise · augment</a:t>
            </a:r>
            <a:endParaRPr lang="en-US" sz="1200" dirty="0"/>
          </a:p>
        </p:txBody>
      </p:sp>
      <p:sp>
        <p:nvSpPr>
          <p:cNvPr id="29" name="arrow"/>
          <p:cNvSpPr/>
          <p:nvPr/>
        </p:nvSpPr>
        <p:spPr>
          <a:xfrm>
            <a:off x="3630168" y="3726180"/>
            <a:ext cx="192024" cy="0"/>
          </a:xfrm>
          <a:prstGeom prst="line">
            <a:avLst/>
          </a:prstGeom>
          <a:noFill/>
          <a:ln w="19050">
            <a:solidFill>
              <a:schemeClr val="tx2"/>
            </a:solidFill>
            <a:prstDash val="solid"/>
            <a:tailEnd type="triangle"/>
          </a:ln>
        </p:spPr>
      </p:sp>
      <p:sp>
        <p:nvSpPr>
          <p:cNvPr id="30" name="Training"/>
          <p:cNvSpPr/>
          <p:nvPr/>
        </p:nvSpPr>
        <p:spPr>
          <a:xfrm>
            <a:off x="3840480" y="3291840"/>
            <a:ext cx="1463040" cy="868680"/>
          </a:xfrm>
          <a:prstGeom prst="roundRect">
            <a:avLst>
              <a:gd name="adj" fmla="val 8421"/>
            </a:avLst>
          </a:prstGeom>
          <a:solidFill>
            <a:schemeClr val="bg1"/>
          </a:solidFill>
          <a:ln w="15875">
            <a:solidFill>
              <a:schemeClr val="accent3"/>
            </a:solidFill>
            <a:prstDash val="solid"/>
          </a:ln>
        </p:spPr>
      </p:sp>
      <p:sp>
        <p:nvSpPr>
          <p:cNvPr id="31" name="Text 29"/>
          <p:cNvSpPr txBox="1"/>
          <p:nvPr/>
        </p:nvSpPr>
        <p:spPr>
          <a:xfrm>
            <a:off x="3886200" y="3291840"/>
            <a:ext cx="1371600" cy="868680"/>
          </a:xfrm>
          <a:prstGeom prst="rect">
            <a:avLst/>
          </a:prstGeom>
          <a:noFill/>
          <a:ln/>
        </p:spPr>
        <p:txBody>
          <a:bodyPr wrap="square" lIns="0" tIns="0" rIns="0" bIns="0" rtlCol="0" anchor="ctr"/>
          <a:lstStyle/>
          <a:p>
            <a:pPr algn="ctr" indent="0" marL="0">
              <a:buNone/>
            </a:pPr>
            <a:r>
              <a:rPr lang="en-US" sz="1200" b="1" dirty="0">
                <a:solidFill>
                  <a:schemeClr val="tx1"/>
                </a:solidFill>
              </a:rPr>
              <a:t>Training</a:t>
            </a:r>
            <a:endParaRPr lang="en-US" sz="1200" dirty="0"/>
          </a:p>
          <a:p>
            <a:pPr algn="ctr" indent="0" marL="0">
              <a:buNone/>
            </a:pPr>
            <a:r>
              <a:rPr lang="en-US" sz="1000" dirty="0">
                <a:solidFill>
                  <a:schemeClr val="tx2"/>
                </a:solidFill>
              </a:rPr>
              <a:t>transfer learning + fine-tuning</a:t>
            </a:r>
            <a:endParaRPr lang="en-US" sz="1200" dirty="0"/>
          </a:p>
        </p:txBody>
      </p:sp>
      <p:sp>
        <p:nvSpPr>
          <p:cNvPr id="32" name="arrow"/>
          <p:cNvSpPr/>
          <p:nvPr/>
        </p:nvSpPr>
        <p:spPr>
          <a:xfrm>
            <a:off x="5321808" y="3726180"/>
            <a:ext cx="192024" cy="0"/>
          </a:xfrm>
          <a:prstGeom prst="line">
            <a:avLst/>
          </a:prstGeom>
          <a:noFill/>
          <a:ln w="19050">
            <a:solidFill>
              <a:schemeClr val="tx2"/>
            </a:solidFill>
            <a:prstDash val="solid"/>
            <a:tailEnd type="triangle"/>
          </a:ln>
        </p:spPr>
      </p:sp>
      <p:sp>
        <p:nvSpPr>
          <p:cNvPr id="33" name="Evaluation"/>
          <p:cNvSpPr/>
          <p:nvPr/>
        </p:nvSpPr>
        <p:spPr>
          <a:xfrm>
            <a:off x="5532120" y="3291840"/>
            <a:ext cx="1463040" cy="868680"/>
          </a:xfrm>
          <a:prstGeom prst="roundRect">
            <a:avLst>
              <a:gd name="adj" fmla="val 8421"/>
            </a:avLst>
          </a:prstGeom>
          <a:solidFill>
            <a:schemeClr val="bg1"/>
          </a:solidFill>
          <a:ln w="15875">
            <a:solidFill>
              <a:schemeClr val="accent3"/>
            </a:solidFill>
            <a:prstDash val="solid"/>
          </a:ln>
        </p:spPr>
      </p:sp>
      <p:sp>
        <p:nvSpPr>
          <p:cNvPr id="34" name="Text 32"/>
          <p:cNvSpPr txBox="1"/>
          <p:nvPr/>
        </p:nvSpPr>
        <p:spPr>
          <a:xfrm>
            <a:off x="5577840" y="3291840"/>
            <a:ext cx="1371600" cy="868680"/>
          </a:xfrm>
          <a:prstGeom prst="rect">
            <a:avLst/>
          </a:prstGeom>
          <a:noFill/>
          <a:ln/>
        </p:spPr>
        <p:txBody>
          <a:bodyPr wrap="square" lIns="0" tIns="0" rIns="0" bIns="0" rtlCol="0" anchor="ctr"/>
          <a:lstStyle/>
          <a:p>
            <a:pPr algn="ctr" indent="0" marL="0">
              <a:buNone/>
            </a:pPr>
            <a:r>
              <a:rPr lang="en-US" sz="1200" b="1" dirty="0">
                <a:solidFill>
                  <a:schemeClr val="tx1"/>
                </a:solidFill>
              </a:rPr>
              <a:t>Evaluation</a:t>
            </a:r>
            <a:endParaRPr lang="en-US" sz="1200" dirty="0"/>
          </a:p>
          <a:p>
            <a:pPr algn="ctr" indent="0" marL="0">
              <a:buNone/>
            </a:pPr>
            <a:r>
              <a:rPr lang="en-US" sz="1000" dirty="0">
                <a:solidFill>
                  <a:schemeClr val="tx2"/>
                </a:solidFill>
              </a:rPr>
              <a:t>metrics + charts (JSON)</a:t>
            </a:r>
            <a:endParaRPr lang="en-US" sz="1200" dirty="0"/>
          </a:p>
        </p:txBody>
      </p:sp>
      <p:sp>
        <p:nvSpPr>
          <p:cNvPr id="35" name="arrow"/>
          <p:cNvSpPr/>
          <p:nvPr/>
        </p:nvSpPr>
        <p:spPr>
          <a:xfrm>
            <a:off x="7013448" y="3726180"/>
            <a:ext cx="192024" cy="0"/>
          </a:xfrm>
          <a:prstGeom prst="line">
            <a:avLst/>
          </a:prstGeom>
          <a:noFill/>
          <a:ln w="19050">
            <a:solidFill>
              <a:schemeClr val="tx2"/>
            </a:solidFill>
            <a:prstDash val="solid"/>
            <a:tailEnd type="triangle"/>
          </a:ln>
        </p:spPr>
      </p:sp>
      <p:sp>
        <p:nvSpPr>
          <p:cNvPr id="36" name="Saved models"/>
          <p:cNvSpPr/>
          <p:nvPr/>
        </p:nvSpPr>
        <p:spPr>
          <a:xfrm>
            <a:off x="7223760" y="3291840"/>
            <a:ext cx="1463040" cy="868680"/>
          </a:xfrm>
          <a:prstGeom prst="roundRect">
            <a:avLst>
              <a:gd name="adj" fmla="val 8421"/>
            </a:avLst>
          </a:prstGeom>
          <a:solidFill>
            <a:schemeClr val="bg1"/>
          </a:solidFill>
          <a:ln w="15875">
            <a:solidFill>
              <a:schemeClr val="accent3"/>
            </a:solidFill>
            <a:prstDash val="solid"/>
          </a:ln>
        </p:spPr>
      </p:sp>
      <p:sp>
        <p:nvSpPr>
          <p:cNvPr id="37" name="Text 35"/>
          <p:cNvSpPr txBox="1"/>
          <p:nvPr/>
        </p:nvSpPr>
        <p:spPr>
          <a:xfrm>
            <a:off x="7269480" y="3291840"/>
            <a:ext cx="1371600" cy="868680"/>
          </a:xfrm>
          <a:prstGeom prst="rect">
            <a:avLst/>
          </a:prstGeom>
          <a:noFill/>
          <a:ln/>
        </p:spPr>
        <p:txBody>
          <a:bodyPr wrap="square" lIns="0" tIns="0" rIns="0" bIns="0" rtlCol="0" anchor="ctr"/>
          <a:lstStyle/>
          <a:p>
            <a:pPr algn="ctr" indent="0" marL="0">
              <a:buNone/>
            </a:pPr>
            <a:r>
              <a:rPr lang="en-US" sz="1200" b="1" dirty="0">
                <a:solidFill>
                  <a:schemeClr val="tx1"/>
                </a:solidFill>
              </a:rPr>
              <a:t>Saved models</a:t>
            </a:r>
            <a:endParaRPr lang="en-US" sz="1200" dirty="0"/>
          </a:p>
          <a:p>
            <a:pPr algn="ctr" indent="0" marL="0">
              <a:buNone/>
            </a:pPr>
            <a:r>
              <a:rPr lang="en-US" sz="1000" dirty="0">
                <a:solidFill>
                  <a:schemeClr val="tx2"/>
                </a:solidFill>
              </a:rPr>
              <a:t>loaded by FastAPI at start</a:t>
            </a:r>
            <a:endParaRPr lang="en-US" sz="1200" dirty="0"/>
          </a:p>
        </p:txBody>
      </p:sp>
      <p:sp>
        <p:nvSpPr>
          <p:cNvPr id="38" name="Text 36"/>
          <p:cNvSpPr txBox="1"/>
          <p:nvPr/>
        </p:nvSpPr>
        <p:spPr>
          <a:xfrm>
            <a:off x="457200" y="4297680"/>
            <a:ext cx="8229600" cy="274320"/>
          </a:xfrm>
          <a:prstGeom prst="rect">
            <a:avLst/>
          </a:prstGeom>
          <a:noFill/>
          <a:ln/>
        </p:spPr>
        <p:txBody>
          <a:bodyPr wrap="square" lIns="0" tIns="0" rIns="0" bIns="0" rtlCol="0" anchor="ctr"/>
          <a:lstStyle/>
          <a:p>
            <a:pPr indent="0" marL="0">
              <a:buNone/>
            </a:pPr>
            <a:r>
              <a:rPr lang="en-US" sz="1000" i="1" dirty="0">
                <a:solidFill>
                  <a:schemeClr val="tx2"/>
                </a:solidFill>
              </a:rPr>
              <a:t>Image size 224 × 224 · whole request answered in under 1 second on a normal laptop CPU (target)</a:t>
            </a:r>
            <a:endParaRPr lang="en-US" sz="10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600" b="1" dirty="0">
                <a:solidFill>
                  <a:schemeClr val="tx1"/>
                </a:solidFill>
              </a:rPr>
              <a:t>07 | Methodology / Workflow</a:t>
            </a:r>
            <a:endParaRPr lang="en-US" sz="2600" dirty="0"/>
          </a:p>
        </p:txBody>
      </p:sp>
      <p:sp>
        <p:nvSpPr>
          <p:cNvPr id="3" name="step 1"/>
          <p:cNvSpPr/>
          <p:nvPr/>
        </p:nvSpPr>
        <p:spPr>
          <a:xfrm>
            <a:off x="457200" y="1005840"/>
            <a:ext cx="2468880" cy="1600200"/>
          </a:xfrm>
          <a:prstGeom prst="roundRect">
            <a:avLst>
              <a:gd name="adj" fmla="val 4571"/>
            </a:avLst>
          </a:prstGeom>
          <a:solidFill>
            <a:schemeClr val="bg2"/>
          </a:solidFill>
          <a:ln/>
        </p:spPr>
      </p:sp>
      <p:sp>
        <p:nvSpPr>
          <p:cNvPr id="4" name="step number"/>
          <p:cNvSpPr/>
          <p:nvPr/>
        </p:nvSpPr>
        <p:spPr>
          <a:xfrm>
            <a:off x="640080" y="1188720"/>
            <a:ext cx="411480" cy="411480"/>
          </a:xfrm>
          <a:prstGeom prst="ellipse">
            <a:avLst/>
          </a:prstGeom>
          <a:solidFill>
            <a:schemeClr val="accent1"/>
          </a:solidFill>
          <a:ln/>
        </p:spPr>
      </p:sp>
      <p:sp>
        <p:nvSpPr>
          <p:cNvPr id="5" name="Text 3"/>
          <p:cNvSpPr txBox="1"/>
          <p:nvPr/>
        </p:nvSpPr>
        <p:spPr>
          <a:xfrm>
            <a:off x="640080" y="11887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4"/>
          <p:cNvSpPr txBox="1"/>
          <p:nvPr/>
        </p:nvSpPr>
        <p:spPr>
          <a:xfrm>
            <a:off x="1170432" y="1188720"/>
            <a:ext cx="1691640" cy="411480"/>
          </a:xfrm>
          <a:prstGeom prst="rect">
            <a:avLst/>
          </a:prstGeom>
          <a:noFill/>
          <a:ln/>
        </p:spPr>
        <p:txBody>
          <a:bodyPr wrap="square" lIns="0" tIns="0" rIns="0" bIns="0" rtlCol="0" anchor="ctr"/>
          <a:lstStyle/>
          <a:p>
            <a:pPr indent="0" marL="0">
              <a:buNone/>
            </a:pPr>
            <a:r>
              <a:rPr lang="en-US" sz="1400" b="1" dirty="0">
                <a:solidFill>
                  <a:schemeClr val="tx1"/>
                </a:solidFill>
              </a:rPr>
              <a:t>Data Collection</a:t>
            </a:r>
            <a:endParaRPr lang="en-US" sz="1400" dirty="0"/>
          </a:p>
        </p:txBody>
      </p:sp>
      <p:sp>
        <p:nvSpPr>
          <p:cNvPr id="7" name="Text 5"/>
          <p:cNvSpPr txBox="1"/>
          <p:nvPr/>
        </p:nvSpPr>
        <p:spPr>
          <a:xfrm>
            <a:off x="640080" y="1719072"/>
            <a:ext cx="2148840" cy="822960"/>
          </a:xfrm>
          <a:prstGeom prst="rect">
            <a:avLst/>
          </a:prstGeom>
          <a:noFill/>
          <a:ln/>
        </p:spPr>
        <p:txBody>
          <a:bodyPr wrap="square" lIns="0" tIns="0" rIns="0" bIns="0" rtlCol="0" anchor="t"/>
          <a:lstStyle/>
          <a:p>
            <a:pPr indent="0" marL="0">
              <a:buNone/>
            </a:pPr>
            <a:r>
              <a:rPr lang="en-US" sz="1100" dirty="0">
                <a:solidFill>
                  <a:schemeClr val="tx2"/>
                </a:solidFill>
              </a:rPr>
              <a:t>cats_vs_dogs (~23,000 images) and Oxford-IIIT Pet (7,349 images, 37 breeds) via TensorFlow Datasets</a:t>
            </a:r>
            <a:endParaRPr lang="en-US" sz="1100" dirty="0"/>
          </a:p>
        </p:txBody>
      </p:sp>
      <p:sp>
        <p:nvSpPr>
          <p:cNvPr id="8" name="arrow"/>
          <p:cNvSpPr/>
          <p:nvPr/>
        </p:nvSpPr>
        <p:spPr>
          <a:xfrm>
            <a:off x="2962656" y="1805940"/>
            <a:ext cx="338328" cy="0"/>
          </a:xfrm>
          <a:prstGeom prst="line">
            <a:avLst/>
          </a:prstGeom>
          <a:noFill/>
          <a:ln w="19050">
            <a:solidFill>
              <a:schemeClr val="tx2"/>
            </a:solidFill>
            <a:prstDash val="solid"/>
            <a:tailEnd type="triangle"/>
          </a:ln>
        </p:spPr>
      </p:sp>
      <p:sp>
        <p:nvSpPr>
          <p:cNvPr id="9" name="step 2"/>
          <p:cNvSpPr/>
          <p:nvPr/>
        </p:nvSpPr>
        <p:spPr>
          <a:xfrm>
            <a:off x="3337560" y="1005840"/>
            <a:ext cx="2468880" cy="1600200"/>
          </a:xfrm>
          <a:prstGeom prst="roundRect">
            <a:avLst>
              <a:gd name="adj" fmla="val 4571"/>
            </a:avLst>
          </a:prstGeom>
          <a:solidFill>
            <a:schemeClr val="bg2"/>
          </a:solidFill>
          <a:ln/>
        </p:spPr>
      </p:sp>
      <p:sp>
        <p:nvSpPr>
          <p:cNvPr id="10" name="step number"/>
          <p:cNvSpPr/>
          <p:nvPr/>
        </p:nvSpPr>
        <p:spPr>
          <a:xfrm>
            <a:off x="3520440" y="1188720"/>
            <a:ext cx="411480" cy="411480"/>
          </a:xfrm>
          <a:prstGeom prst="ellipse">
            <a:avLst/>
          </a:prstGeom>
          <a:solidFill>
            <a:schemeClr val="accent1"/>
          </a:solidFill>
          <a:ln/>
        </p:spPr>
      </p:sp>
      <p:sp>
        <p:nvSpPr>
          <p:cNvPr id="11" name="Text 9"/>
          <p:cNvSpPr txBox="1"/>
          <p:nvPr/>
        </p:nvSpPr>
        <p:spPr>
          <a:xfrm>
            <a:off x="3520440" y="11887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10"/>
          <p:cNvSpPr txBox="1"/>
          <p:nvPr/>
        </p:nvSpPr>
        <p:spPr>
          <a:xfrm>
            <a:off x="4050792" y="1188720"/>
            <a:ext cx="1691640" cy="411480"/>
          </a:xfrm>
          <a:prstGeom prst="rect">
            <a:avLst/>
          </a:prstGeom>
          <a:noFill/>
          <a:ln/>
        </p:spPr>
        <p:txBody>
          <a:bodyPr wrap="square" lIns="0" tIns="0" rIns="0" bIns="0" rtlCol="0" anchor="ctr"/>
          <a:lstStyle/>
          <a:p>
            <a:pPr indent="0" marL="0">
              <a:buNone/>
            </a:pPr>
            <a:r>
              <a:rPr lang="en-US" sz="1400" b="1" dirty="0">
                <a:solidFill>
                  <a:schemeClr val="tx1"/>
                </a:solidFill>
              </a:rPr>
              <a:t>Cleaning &amp; Split</a:t>
            </a:r>
            <a:endParaRPr lang="en-US" sz="1400" dirty="0"/>
          </a:p>
        </p:txBody>
      </p:sp>
      <p:sp>
        <p:nvSpPr>
          <p:cNvPr id="13" name="Text 11"/>
          <p:cNvSpPr txBox="1"/>
          <p:nvPr/>
        </p:nvSpPr>
        <p:spPr>
          <a:xfrm>
            <a:off x="3520440" y="1719072"/>
            <a:ext cx="2148840" cy="822960"/>
          </a:xfrm>
          <a:prstGeom prst="rect">
            <a:avLst/>
          </a:prstGeom>
          <a:noFill/>
          <a:ln/>
        </p:spPr>
        <p:txBody>
          <a:bodyPr wrap="square" lIns="0" tIns="0" rIns="0" bIns="0" rtlCol="0" anchor="t"/>
          <a:lstStyle/>
          <a:p>
            <a:pPr indent="0" marL="0">
              <a:buNone/>
            </a:pPr>
            <a:r>
              <a:rPr lang="en-US" sz="1100" dirty="0">
                <a:solidFill>
                  <a:schemeClr val="tx2"/>
                </a:solidFill>
              </a:rPr>
              <a:t>Remove broken files. Split 80% train, 10% validation, 10% test</a:t>
            </a:r>
            <a:endParaRPr lang="en-US" sz="1100" dirty="0"/>
          </a:p>
        </p:txBody>
      </p:sp>
      <p:sp>
        <p:nvSpPr>
          <p:cNvPr id="14" name="arrow"/>
          <p:cNvSpPr/>
          <p:nvPr/>
        </p:nvSpPr>
        <p:spPr>
          <a:xfrm>
            <a:off x="5843016" y="1805940"/>
            <a:ext cx="338328" cy="0"/>
          </a:xfrm>
          <a:prstGeom prst="line">
            <a:avLst/>
          </a:prstGeom>
          <a:noFill/>
          <a:ln w="19050">
            <a:solidFill>
              <a:schemeClr val="tx2"/>
            </a:solidFill>
            <a:prstDash val="solid"/>
            <a:tailEnd type="triangle"/>
          </a:ln>
        </p:spPr>
      </p:sp>
      <p:sp>
        <p:nvSpPr>
          <p:cNvPr id="15" name="step 3"/>
          <p:cNvSpPr/>
          <p:nvPr/>
        </p:nvSpPr>
        <p:spPr>
          <a:xfrm>
            <a:off x="6217920" y="1005840"/>
            <a:ext cx="2468880" cy="1600200"/>
          </a:xfrm>
          <a:prstGeom prst="roundRect">
            <a:avLst>
              <a:gd name="adj" fmla="val 4571"/>
            </a:avLst>
          </a:prstGeom>
          <a:solidFill>
            <a:schemeClr val="bg2"/>
          </a:solidFill>
          <a:ln/>
        </p:spPr>
      </p:sp>
      <p:sp>
        <p:nvSpPr>
          <p:cNvPr id="16" name="step number"/>
          <p:cNvSpPr/>
          <p:nvPr/>
        </p:nvSpPr>
        <p:spPr>
          <a:xfrm>
            <a:off x="6400800" y="1188720"/>
            <a:ext cx="411480" cy="411480"/>
          </a:xfrm>
          <a:prstGeom prst="ellipse">
            <a:avLst/>
          </a:prstGeom>
          <a:solidFill>
            <a:schemeClr val="accent1"/>
          </a:solidFill>
          <a:ln/>
        </p:spPr>
      </p:sp>
      <p:sp>
        <p:nvSpPr>
          <p:cNvPr id="17" name="Text 15"/>
          <p:cNvSpPr txBox="1"/>
          <p:nvPr/>
        </p:nvSpPr>
        <p:spPr>
          <a:xfrm>
            <a:off x="6400800" y="11887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ext 16"/>
          <p:cNvSpPr txBox="1"/>
          <p:nvPr/>
        </p:nvSpPr>
        <p:spPr>
          <a:xfrm>
            <a:off x="6931152" y="1188720"/>
            <a:ext cx="1691640" cy="411480"/>
          </a:xfrm>
          <a:prstGeom prst="rect">
            <a:avLst/>
          </a:prstGeom>
          <a:noFill/>
          <a:ln/>
        </p:spPr>
        <p:txBody>
          <a:bodyPr wrap="square" lIns="0" tIns="0" rIns="0" bIns="0" rtlCol="0" anchor="ctr"/>
          <a:lstStyle/>
          <a:p>
            <a:pPr indent="0" marL="0">
              <a:buNone/>
            </a:pPr>
            <a:r>
              <a:rPr lang="en-US" sz="1400" b="1" dirty="0">
                <a:solidFill>
                  <a:schemeClr val="tx1"/>
                </a:solidFill>
              </a:rPr>
              <a:t>Pre-processing</a:t>
            </a:r>
            <a:endParaRPr lang="en-US" sz="1400" dirty="0"/>
          </a:p>
        </p:txBody>
      </p:sp>
      <p:sp>
        <p:nvSpPr>
          <p:cNvPr id="19" name="Text 17"/>
          <p:cNvSpPr txBox="1"/>
          <p:nvPr/>
        </p:nvSpPr>
        <p:spPr>
          <a:xfrm>
            <a:off x="6400800" y="1719072"/>
            <a:ext cx="2148840" cy="822960"/>
          </a:xfrm>
          <a:prstGeom prst="rect">
            <a:avLst/>
          </a:prstGeom>
          <a:noFill/>
          <a:ln/>
        </p:spPr>
        <p:txBody>
          <a:bodyPr wrap="square" lIns="0" tIns="0" rIns="0" bIns="0" rtlCol="0" anchor="t"/>
          <a:lstStyle/>
          <a:p>
            <a:pPr indent="0" marL="0">
              <a:buNone/>
            </a:pPr>
            <a:r>
              <a:rPr lang="en-US" sz="1100" dirty="0">
                <a:solidFill>
                  <a:schemeClr val="tx2"/>
                </a:solidFill>
              </a:rPr>
              <a:t>Resize to 224 × 224, normalise, augment: flip, rotate, zoom, contrast</a:t>
            </a:r>
            <a:endParaRPr lang="en-US" sz="1100" dirty="0"/>
          </a:p>
        </p:txBody>
      </p:sp>
      <p:sp>
        <p:nvSpPr>
          <p:cNvPr id="20" name="step 4"/>
          <p:cNvSpPr/>
          <p:nvPr/>
        </p:nvSpPr>
        <p:spPr>
          <a:xfrm>
            <a:off x="457200" y="2788920"/>
            <a:ext cx="2468880" cy="1600200"/>
          </a:xfrm>
          <a:prstGeom prst="roundRect">
            <a:avLst>
              <a:gd name="adj" fmla="val 4571"/>
            </a:avLst>
          </a:prstGeom>
          <a:solidFill>
            <a:schemeClr val="bg2"/>
          </a:solidFill>
          <a:ln/>
        </p:spPr>
      </p:sp>
      <p:sp>
        <p:nvSpPr>
          <p:cNvPr id="21" name="step number"/>
          <p:cNvSpPr/>
          <p:nvPr/>
        </p:nvSpPr>
        <p:spPr>
          <a:xfrm>
            <a:off x="640080" y="2971800"/>
            <a:ext cx="411480" cy="411480"/>
          </a:xfrm>
          <a:prstGeom prst="ellipse">
            <a:avLst/>
          </a:prstGeom>
          <a:solidFill>
            <a:schemeClr val="accent3"/>
          </a:solidFill>
          <a:ln/>
        </p:spPr>
      </p:sp>
      <p:sp>
        <p:nvSpPr>
          <p:cNvPr id="22" name="Text 20"/>
          <p:cNvSpPr txBox="1"/>
          <p:nvPr/>
        </p:nvSpPr>
        <p:spPr>
          <a:xfrm>
            <a:off x="640080" y="29718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Text 21"/>
          <p:cNvSpPr txBox="1"/>
          <p:nvPr/>
        </p:nvSpPr>
        <p:spPr>
          <a:xfrm>
            <a:off x="1170432" y="2971800"/>
            <a:ext cx="1691640" cy="411480"/>
          </a:xfrm>
          <a:prstGeom prst="rect">
            <a:avLst/>
          </a:prstGeom>
          <a:noFill/>
          <a:ln/>
        </p:spPr>
        <p:txBody>
          <a:bodyPr wrap="square" lIns="0" tIns="0" rIns="0" bIns="0" rtlCol="0" anchor="ctr"/>
          <a:lstStyle/>
          <a:p>
            <a:pPr indent="0" marL="0">
              <a:buNone/>
            </a:pPr>
            <a:r>
              <a:rPr lang="en-US" sz="1400" b="1" dirty="0">
                <a:solidFill>
                  <a:schemeClr val="tx1"/>
                </a:solidFill>
              </a:rPr>
              <a:t>Model Training</a:t>
            </a:r>
            <a:endParaRPr lang="en-US" sz="1400" dirty="0"/>
          </a:p>
        </p:txBody>
      </p:sp>
      <p:sp>
        <p:nvSpPr>
          <p:cNvPr id="24" name="Text 22"/>
          <p:cNvSpPr txBox="1"/>
          <p:nvPr/>
        </p:nvSpPr>
        <p:spPr>
          <a:xfrm>
            <a:off x="640080" y="3502152"/>
            <a:ext cx="2148840" cy="822960"/>
          </a:xfrm>
          <a:prstGeom prst="rect">
            <a:avLst/>
          </a:prstGeom>
          <a:noFill/>
          <a:ln/>
        </p:spPr>
        <p:txBody>
          <a:bodyPr wrap="square" lIns="0" tIns="0" rIns="0" bIns="0" rtlCol="0" anchor="t"/>
          <a:lstStyle/>
          <a:p>
            <a:pPr indent="0" marL="0">
              <a:buNone/>
            </a:pPr>
            <a:r>
              <a:rPr lang="en-US" sz="1100" dirty="0">
                <a:solidFill>
                  <a:schemeClr val="tx2"/>
                </a:solidFill>
              </a:rPr>
              <a:t>Custom CNN from scratch, then MobileNetV2 and EfficientNetB0 with transfer learning + fine-tuning</a:t>
            </a:r>
            <a:endParaRPr lang="en-US" sz="1100" dirty="0"/>
          </a:p>
        </p:txBody>
      </p:sp>
      <p:sp>
        <p:nvSpPr>
          <p:cNvPr id="25" name="arrow"/>
          <p:cNvSpPr/>
          <p:nvPr/>
        </p:nvSpPr>
        <p:spPr>
          <a:xfrm>
            <a:off x="2962656" y="3589020"/>
            <a:ext cx="338328" cy="0"/>
          </a:xfrm>
          <a:prstGeom prst="line">
            <a:avLst/>
          </a:prstGeom>
          <a:noFill/>
          <a:ln w="19050">
            <a:solidFill>
              <a:schemeClr val="tx2"/>
            </a:solidFill>
            <a:prstDash val="solid"/>
            <a:tailEnd type="triangle"/>
          </a:ln>
        </p:spPr>
      </p:sp>
      <p:sp>
        <p:nvSpPr>
          <p:cNvPr id="26" name="step 5"/>
          <p:cNvSpPr/>
          <p:nvPr/>
        </p:nvSpPr>
        <p:spPr>
          <a:xfrm>
            <a:off x="3337560" y="2788920"/>
            <a:ext cx="2468880" cy="1600200"/>
          </a:xfrm>
          <a:prstGeom prst="roundRect">
            <a:avLst>
              <a:gd name="adj" fmla="val 4571"/>
            </a:avLst>
          </a:prstGeom>
          <a:solidFill>
            <a:schemeClr val="bg2"/>
          </a:solidFill>
          <a:ln/>
        </p:spPr>
      </p:sp>
      <p:sp>
        <p:nvSpPr>
          <p:cNvPr id="27" name="step number"/>
          <p:cNvSpPr/>
          <p:nvPr/>
        </p:nvSpPr>
        <p:spPr>
          <a:xfrm>
            <a:off x="3520440" y="2971800"/>
            <a:ext cx="411480" cy="411480"/>
          </a:xfrm>
          <a:prstGeom prst="ellipse">
            <a:avLst/>
          </a:prstGeom>
          <a:solidFill>
            <a:schemeClr val="accent3"/>
          </a:solidFill>
          <a:ln/>
        </p:spPr>
      </p:sp>
      <p:sp>
        <p:nvSpPr>
          <p:cNvPr id="28" name="Text 26"/>
          <p:cNvSpPr txBox="1"/>
          <p:nvPr/>
        </p:nvSpPr>
        <p:spPr>
          <a:xfrm>
            <a:off x="3520440" y="29718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9" name="Text 27"/>
          <p:cNvSpPr txBox="1"/>
          <p:nvPr/>
        </p:nvSpPr>
        <p:spPr>
          <a:xfrm>
            <a:off x="4050792" y="2971800"/>
            <a:ext cx="1691640" cy="411480"/>
          </a:xfrm>
          <a:prstGeom prst="rect">
            <a:avLst/>
          </a:prstGeom>
          <a:noFill/>
          <a:ln/>
        </p:spPr>
        <p:txBody>
          <a:bodyPr wrap="square" lIns="0" tIns="0" rIns="0" bIns="0" rtlCol="0" anchor="ctr"/>
          <a:lstStyle/>
          <a:p>
            <a:pPr indent="0" marL="0">
              <a:buNone/>
            </a:pPr>
            <a:r>
              <a:rPr lang="en-US" sz="1400" b="1" dirty="0">
                <a:solidFill>
                  <a:schemeClr val="tx1"/>
                </a:solidFill>
              </a:rPr>
              <a:t>Evaluation</a:t>
            </a:r>
            <a:endParaRPr lang="en-US" sz="1400" dirty="0"/>
          </a:p>
        </p:txBody>
      </p:sp>
      <p:sp>
        <p:nvSpPr>
          <p:cNvPr id="30" name="Text 28"/>
          <p:cNvSpPr txBox="1"/>
          <p:nvPr/>
        </p:nvSpPr>
        <p:spPr>
          <a:xfrm>
            <a:off x="3520440" y="3502152"/>
            <a:ext cx="2148840" cy="822960"/>
          </a:xfrm>
          <a:prstGeom prst="rect">
            <a:avLst/>
          </a:prstGeom>
          <a:noFill/>
          <a:ln/>
        </p:spPr>
        <p:txBody>
          <a:bodyPr wrap="square" lIns="0" tIns="0" rIns="0" bIns="0" rtlCol="0" anchor="t"/>
          <a:lstStyle/>
          <a:p>
            <a:pPr indent="0" marL="0">
              <a:buNone/>
            </a:pPr>
            <a:r>
              <a:rPr lang="en-US" sz="1100" dirty="0">
                <a:solidFill>
                  <a:schemeClr val="tx2"/>
                </a:solidFill>
              </a:rPr>
              <a:t>Accuracy, precision, recall, F1, confusion matrix, top-3 accuracy, robustness score</a:t>
            </a:r>
            <a:endParaRPr lang="en-US" sz="1100" dirty="0"/>
          </a:p>
        </p:txBody>
      </p:sp>
      <p:sp>
        <p:nvSpPr>
          <p:cNvPr id="31" name="arrow"/>
          <p:cNvSpPr/>
          <p:nvPr/>
        </p:nvSpPr>
        <p:spPr>
          <a:xfrm>
            <a:off x="5843016" y="3589020"/>
            <a:ext cx="338328" cy="0"/>
          </a:xfrm>
          <a:prstGeom prst="line">
            <a:avLst/>
          </a:prstGeom>
          <a:noFill/>
          <a:ln w="19050">
            <a:solidFill>
              <a:schemeClr val="tx2"/>
            </a:solidFill>
            <a:prstDash val="solid"/>
            <a:tailEnd type="triangle"/>
          </a:ln>
        </p:spPr>
      </p:sp>
      <p:sp>
        <p:nvSpPr>
          <p:cNvPr id="32" name="step 6"/>
          <p:cNvSpPr/>
          <p:nvPr/>
        </p:nvSpPr>
        <p:spPr>
          <a:xfrm>
            <a:off x="6217920" y="2788920"/>
            <a:ext cx="2468880" cy="1600200"/>
          </a:xfrm>
          <a:prstGeom prst="roundRect">
            <a:avLst>
              <a:gd name="adj" fmla="val 4571"/>
            </a:avLst>
          </a:prstGeom>
          <a:solidFill>
            <a:schemeClr val="bg2"/>
          </a:solidFill>
          <a:ln/>
        </p:spPr>
      </p:sp>
      <p:sp>
        <p:nvSpPr>
          <p:cNvPr id="33" name="step number"/>
          <p:cNvSpPr/>
          <p:nvPr/>
        </p:nvSpPr>
        <p:spPr>
          <a:xfrm>
            <a:off x="6400800" y="2971800"/>
            <a:ext cx="411480" cy="411480"/>
          </a:xfrm>
          <a:prstGeom prst="ellipse">
            <a:avLst/>
          </a:prstGeom>
          <a:solidFill>
            <a:schemeClr val="accent3"/>
          </a:solidFill>
          <a:ln/>
        </p:spPr>
      </p:sp>
      <p:sp>
        <p:nvSpPr>
          <p:cNvPr id="34" name="Text 32"/>
          <p:cNvSpPr txBox="1"/>
          <p:nvPr/>
        </p:nvSpPr>
        <p:spPr>
          <a:xfrm>
            <a:off x="6400800" y="29718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5" name="Text 33"/>
          <p:cNvSpPr txBox="1"/>
          <p:nvPr/>
        </p:nvSpPr>
        <p:spPr>
          <a:xfrm>
            <a:off x="6931152" y="2971800"/>
            <a:ext cx="1691640" cy="411480"/>
          </a:xfrm>
          <a:prstGeom prst="rect">
            <a:avLst/>
          </a:prstGeom>
          <a:noFill/>
          <a:ln/>
        </p:spPr>
        <p:txBody>
          <a:bodyPr wrap="square" lIns="0" tIns="0" rIns="0" bIns="0" rtlCol="0" anchor="ctr"/>
          <a:lstStyle/>
          <a:p>
            <a:pPr indent="0" marL="0">
              <a:buNone/>
            </a:pPr>
            <a:r>
              <a:rPr lang="en-US" sz="1400" b="1" dirty="0">
                <a:solidFill>
                  <a:schemeClr val="tx1"/>
                </a:solidFill>
              </a:rPr>
              <a:t>Deployment</a:t>
            </a:r>
            <a:endParaRPr lang="en-US" sz="1400" dirty="0"/>
          </a:p>
        </p:txBody>
      </p:sp>
      <p:sp>
        <p:nvSpPr>
          <p:cNvPr id="36" name="Text 34"/>
          <p:cNvSpPr txBox="1"/>
          <p:nvPr/>
        </p:nvSpPr>
        <p:spPr>
          <a:xfrm>
            <a:off x="6400800" y="3502152"/>
            <a:ext cx="2148840" cy="822960"/>
          </a:xfrm>
          <a:prstGeom prst="rect">
            <a:avLst/>
          </a:prstGeom>
          <a:noFill/>
          <a:ln/>
        </p:spPr>
        <p:txBody>
          <a:bodyPr wrap="square" lIns="0" tIns="0" rIns="0" bIns="0" rtlCol="0" anchor="t"/>
          <a:lstStyle/>
          <a:p>
            <a:pPr indent="0" marL="0">
              <a:buNone/>
            </a:pPr>
            <a:r>
              <a:rPr lang="en-US" sz="1100" dirty="0">
                <a:solidFill>
                  <a:schemeClr val="tx2"/>
                </a:solidFill>
              </a:rPr>
              <a:t>Save models, serve them with FastAPI, connect to the React web app</a:t>
            </a:r>
            <a:endParaRPr lang="en-US" sz="11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600" b="1" dirty="0">
                <a:solidFill>
                  <a:schemeClr val="tx1"/>
                </a:solidFill>
              </a:rPr>
              <a:t>08 | Models &amp; Datasets</a:t>
            </a:r>
            <a:endParaRPr lang="en-US" sz="2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2560320"/>
                <a:gridCol w="2103120"/>
                <a:gridCol w="1554480"/>
                <a:gridCol w="2011680"/>
              </a:tblGrid>
              <a:tr h="457200">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91440" marR="91440"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Role</a:t>
                      </a:r>
                      <a:endParaRPr lang="en-US" sz="1200" dirty="0">
                        <a:latin typeface="Calibri" charset="0"/>
                        <a:ea typeface="Calibri" charset="0"/>
                        <a:cs typeface="Calibri" charset="0"/>
                      </a:endParaRPr>
                    </a:p>
                  </a:txBody>
                  <a:tcPr marL="91440" marR="91440"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Trained on</a:t>
                      </a:r>
                      <a:endParaRPr lang="en-US" sz="1200" dirty="0">
                        <a:latin typeface="Calibri" charset="0"/>
                        <a:ea typeface="Calibri" charset="0"/>
                        <a:cs typeface="Calibri" charset="0"/>
                      </a:endParaRPr>
                    </a:p>
                  </a:txBody>
                  <a:tcPr marL="91440" marR="91440"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Target</a:t>
                      </a:r>
                      <a:endParaRPr lang="en-US" sz="1200" dirty="0">
                        <a:latin typeface="Calibri" charset="0"/>
                        <a:ea typeface="Calibri" charset="0"/>
                        <a:cs typeface="Calibri" charset="0"/>
                      </a:endParaRPr>
                    </a:p>
                  </a:txBody>
                  <a:tcPr marL="91440" marR="91440"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tx1"/>
                    </a:solidFill>
                  </a:tcPr>
                </a:tc>
              </a:tr>
              <a:tr h="457200">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Custom CNN (4 conv blocks)</a:t>
                      </a:r>
                      <a:endParaRPr lang="en-US" sz="1200" dirty="0">
                        <a:latin typeface="Calibri" charset="0"/>
                        <a:ea typeface="Calibri" charset="0"/>
                        <a:cs typeface="Calibri" charset="0"/>
                      </a:endParaRPr>
                    </a:p>
                  </a:txBody>
                  <a:tcPr marL="91440" marR="91440"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latin typeface="Calibri" pitchFamily="34" charset="0"/>
                          <a:ea typeface="Calibri" pitchFamily="34" charset="-122"/>
                          <a:cs typeface="Calibri" pitchFamily="34" charset="-120"/>
                        </a:rPr>
                        <a:t>Baseline: cat vs dog</a:t>
                      </a:r>
                      <a:endParaRPr lang="en-US" sz="1200" dirty="0">
                        <a:latin typeface="Calibri" charset="0"/>
                        <a:ea typeface="Calibri" charset="0"/>
                        <a:cs typeface="Calibri" charset="0"/>
                      </a:endParaRPr>
                    </a:p>
                  </a:txBody>
                  <a:tcPr marL="91440" marR="91440"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latin typeface="Calibri" pitchFamily="34" charset="0"/>
                          <a:ea typeface="Calibri" pitchFamily="34" charset="-122"/>
                          <a:cs typeface="Calibri" pitchFamily="34" charset="-120"/>
                        </a:rPr>
                        <a:t>cats_vs_dogs</a:t>
                      </a:r>
                      <a:endParaRPr lang="en-US" sz="1200" dirty="0">
                        <a:latin typeface="Calibri" charset="0"/>
                        <a:ea typeface="Calibri" charset="0"/>
                        <a:cs typeface="Calibri" charset="0"/>
                      </a:endParaRPr>
                    </a:p>
                  </a:txBody>
                  <a:tcPr marL="91440" marR="91440"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1"/>
                          </a:solidFill>
                          <a:latin typeface="Calibri" pitchFamily="34" charset="0"/>
                          <a:ea typeface="Calibri" pitchFamily="34" charset="-122"/>
                          <a:cs typeface="Calibri" pitchFamily="34" charset="-120"/>
                        </a:rPr>
                        <a:t>≥ 85% accuracy</a:t>
                      </a:r>
                      <a:endParaRPr lang="en-US" sz="1200" dirty="0">
                        <a:latin typeface="Calibri" charset="0"/>
                        <a:ea typeface="Calibri" charset="0"/>
                        <a:cs typeface="Calibri" charset="0"/>
                      </a:endParaRPr>
                    </a:p>
                  </a:txBody>
                  <a:tcPr marL="91440" marR="91440"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bg2"/>
                    </a:solidFill>
                  </a:tcPr>
                </a:tc>
              </a:tr>
              <a:tr h="457200">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MobileNetV2 (transfer learning)</a:t>
                      </a:r>
                      <a:endParaRPr lang="en-US" sz="1200" dirty="0">
                        <a:latin typeface="Calibri" charset="0"/>
                        <a:ea typeface="Calibri" charset="0"/>
                        <a:cs typeface="Calibri" charset="0"/>
                      </a:endParaRPr>
                    </a:p>
                  </a:txBody>
                  <a:tcPr marL="91440" marR="91440"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latin typeface="Calibri" pitchFamily="34" charset="0"/>
                          <a:ea typeface="Calibri" pitchFamily="34" charset="-122"/>
                          <a:cs typeface="Calibri" pitchFamily="34" charset="-120"/>
                        </a:rPr>
                        <a:t>Main: cat vs dog</a:t>
                      </a:r>
                      <a:endParaRPr lang="en-US" sz="1200" dirty="0">
                        <a:latin typeface="Calibri" charset="0"/>
                        <a:ea typeface="Calibri" charset="0"/>
                        <a:cs typeface="Calibri" charset="0"/>
                      </a:endParaRPr>
                    </a:p>
                  </a:txBody>
                  <a:tcPr marL="91440" marR="91440"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latin typeface="Calibri" pitchFamily="34" charset="0"/>
                          <a:ea typeface="Calibri" pitchFamily="34" charset="-122"/>
                          <a:cs typeface="Calibri" pitchFamily="34" charset="-120"/>
                        </a:rPr>
                        <a:t>cats_vs_dogs</a:t>
                      </a:r>
                      <a:endParaRPr lang="en-US" sz="1200" dirty="0">
                        <a:latin typeface="Calibri" charset="0"/>
                        <a:ea typeface="Calibri" charset="0"/>
                        <a:cs typeface="Calibri" charset="0"/>
                      </a:endParaRPr>
                    </a:p>
                  </a:txBody>
                  <a:tcPr marL="91440" marR="91440"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1"/>
                          </a:solidFill>
                          <a:latin typeface="Calibri" pitchFamily="34" charset="0"/>
                          <a:ea typeface="Calibri" pitchFamily="34" charset="-122"/>
                          <a:cs typeface="Calibri" pitchFamily="34" charset="-120"/>
                        </a:rPr>
                        <a:t>≥ 95% accuracy</a:t>
                      </a:r>
                      <a:endParaRPr lang="en-US" sz="1200" dirty="0">
                        <a:latin typeface="Calibri" charset="0"/>
                        <a:ea typeface="Calibri" charset="0"/>
                        <a:cs typeface="Calibri" charset="0"/>
                      </a:endParaRPr>
                    </a:p>
                  </a:txBody>
                  <a:tcPr marL="91440" marR="91440"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EfficientNetB0 (fine-tuned)</a:t>
                      </a:r>
                      <a:endParaRPr lang="en-US" sz="1200" dirty="0">
                        <a:latin typeface="Calibri" charset="0"/>
                        <a:ea typeface="Calibri" charset="0"/>
                        <a:cs typeface="Calibri" charset="0"/>
                      </a:endParaRPr>
                    </a:p>
                  </a:txBody>
                  <a:tcPr marL="91440" marR="91440"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latin typeface="Calibri" pitchFamily="34" charset="0"/>
                          <a:ea typeface="Calibri" pitchFamily="34" charset="-122"/>
                          <a:cs typeface="Calibri" pitchFamily="34" charset="-120"/>
                        </a:rPr>
                        <a:t>Breed: 37 classes</a:t>
                      </a:r>
                      <a:endParaRPr lang="en-US" sz="1200" dirty="0">
                        <a:latin typeface="Calibri" charset="0"/>
                        <a:ea typeface="Calibri" charset="0"/>
                        <a:cs typeface="Calibri" charset="0"/>
                      </a:endParaRPr>
                    </a:p>
                  </a:txBody>
                  <a:tcPr marL="91440" marR="91440"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latin typeface="Calibri" pitchFamily="34" charset="0"/>
                          <a:ea typeface="Calibri" pitchFamily="34" charset="-122"/>
                          <a:cs typeface="Calibri" pitchFamily="34" charset="-120"/>
                        </a:rPr>
                        <a:t>Oxford-IIIT Pet</a:t>
                      </a:r>
                      <a:endParaRPr lang="en-US" sz="1200" dirty="0">
                        <a:latin typeface="Calibri" charset="0"/>
                        <a:ea typeface="Calibri" charset="0"/>
                        <a:cs typeface="Calibri" charset="0"/>
                      </a:endParaRPr>
                    </a:p>
                  </a:txBody>
                  <a:tcPr marL="91440" marR="91440"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1"/>
                          </a:solidFill>
                          <a:latin typeface="Calibri" pitchFamily="34" charset="0"/>
                          <a:ea typeface="Calibri" pitchFamily="34" charset="-122"/>
                          <a:cs typeface="Calibri" pitchFamily="34" charset="-120"/>
                        </a:rPr>
                        <a:t>≥ 85% top-1, ≥ 95% top-3</a:t>
                      </a:r>
                      <a:endParaRPr lang="en-US" sz="1200" dirty="0">
                        <a:latin typeface="Calibri" charset="0"/>
                        <a:ea typeface="Calibri" charset="0"/>
                        <a:cs typeface="Calibri" charset="0"/>
                      </a:endParaRPr>
                    </a:p>
                  </a:txBody>
                  <a:tcPr marL="91440" marR="91440"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bg2"/>
                    </a:solidFill>
                  </a:tcPr>
                </a:tc>
              </a:tr>
              <a:tr h="457200">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MobileNetV2 (ImageNet, as-is)</a:t>
                      </a:r>
                      <a:endParaRPr lang="en-US" sz="1200" dirty="0">
                        <a:latin typeface="Calibri" charset="0"/>
                        <a:ea typeface="Calibri" charset="0"/>
                        <a:cs typeface="Calibri" charset="0"/>
                      </a:endParaRPr>
                    </a:p>
                  </a:txBody>
                  <a:tcPr marL="91440" marR="91440"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latin typeface="Calibri" pitchFamily="34" charset="0"/>
                          <a:ea typeface="Calibri" pitchFamily="34" charset="-122"/>
                          <a:cs typeface="Calibri" pitchFamily="34" charset="-120"/>
                        </a:rPr>
                        <a:t>Pet Gate: reject non-pets</a:t>
                      </a:r>
                      <a:endParaRPr lang="en-US" sz="1200" dirty="0">
                        <a:latin typeface="Calibri" charset="0"/>
                        <a:ea typeface="Calibri" charset="0"/>
                        <a:cs typeface="Calibri" charset="0"/>
                      </a:endParaRPr>
                    </a:p>
                  </a:txBody>
                  <a:tcPr marL="91440" marR="91440"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latin typeface="Calibri" pitchFamily="34" charset="0"/>
                          <a:ea typeface="Calibri" pitchFamily="34" charset="-122"/>
                          <a:cs typeface="Calibri" pitchFamily="34" charset="-120"/>
                        </a:rPr>
                        <a:t>Already trained</a:t>
                      </a:r>
                      <a:endParaRPr lang="en-US" sz="1200" dirty="0">
                        <a:latin typeface="Calibri" charset="0"/>
                        <a:ea typeface="Calibri" charset="0"/>
                        <a:cs typeface="Calibri" charset="0"/>
                      </a:endParaRPr>
                    </a:p>
                  </a:txBody>
                  <a:tcPr marL="91440" marR="91440"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1"/>
                          </a:solidFill>
                          <a:latin typeface="Calibri" pitchFamily="34" charset="0"/>
                          <a:ea typeface="Calibri" pitchFamily="34" charset="-122"/>
                          <a:cs typeface="Calibri" pitchFamily="34" charset="-120"/>
                        </a:rPr>
                        <a:t>Reject ≥ 90% non-pet photos</a:t>
                      </a:r>
                      <a:endParaRPr lang="en-US" sz="1200" dirty="0">
                        <a:latin typeface="Calibri" charset="0"/>
                        <a:ea typeface="Calibri" charset="0"/>
                        <a:cs typeface="Calibri" charset="0"/>
                      </a:endParaRPr>
                    </a:p>
                  </a:txBody>
                  <a:tcPr marL="91440" marR="91440"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bg1"/>
                    </a:solidFill>
                  </a:tcPr>
                </a:tc>
              </a:tr>
            </a:tbl>
          </a:graphicData>
        </a:graphic>
      </p:graphicFrame>
      <p:sp>
        <p:nvSpPr>
          <p:cNvPr id="4" name="transfer learning note"/>
          <p:cNvSpPr/>
          <p:nvPr/>
        </p:nvSpPr>
        <p:spPr>
          <a:xfrm>
            <a:off x="457200" y="3520440"/>
            <a:ext cx="8229600" cy="960120"/>
          </a:xfrm>
          <a:prstGeom prst="roundRect">
            <a:avLst>
              <a:gd name="adj" fmla="val 7619"/>
            </a:avLst>
          </a:prstGeom>
          <a:solidFill>
            <a:schemeClr val="tx1"/>
          </a:solidFill>
          <a:ln/>
        </p:spPr>
      </p:sp>
      <p:sp>
        <p:nvSpPr>
          <p:cNvPr id="5" name="transfer learning circle"/>
          <p:cNvSpPr/>
          <p:nvPr/>
        </p:nvSpPr>
        <p:spPr>
          <a:xfrm>
            <a:off x="640080" y="3721608"/>
            <a:ext cx="548640" cy="548640"/>
          </a:xfrm>
          <a:prstGeom prst="ellipse">
            <a:avLst/>
          </a:prstGeom>
          <a:solidFill>
            <a:schemeClr val="accent2"/>
          </a:solidFill>
          <a:ln/>
        </p:spPr>
      </p:sp>
      <p:pic>
        <p:nvPicPr>
          <p:cNvPr id="6" name="Image 0" descr="transfer learning">    </p:cNvPr>
          <p:cNvPicPr>
            <a:picLocks noChangeAspect="1"/>
          </p:cNvPicPr>
          <p:nvPr/>
        </p:nvPicPr>
        <p:blipFill>
          <a:blip r:embed="rId1"/>
          <a:stretch>
            <a:fillRect/>
          </a:stretch>
        </p:blipFill>
        <p:spPr>
          <a:xfrm>
            <a:off x="777240" y="3858768"/>
            <a:ext cx="274320" cy="274320"/>
          </a:xfrm>
          <a:prstGeom prst="rect">
            <a:avLst/>
          </a:prstGeom>
        </p:spPr>
      </p:pic>
      <p:sp>
        <p:nvSpPr>
          <p:cNvPr id="7" name="Text 3"/>
          <p:cNvSpPr txBox="1"/>
          <p:nvPr/>
        </p:nvSpPr>
        <p:spPr>
          <a:xfrm>
            <a:off x="1371600" y="3566160"/>
            <a:ext cx="7178040" cy="868680"/>
          </a:xfrm>
          <a:prstGeom prst="rect">
            <a:avLst/>
          </a:prstGeom>
          <a:noFill/>
          <a:ln/>
        </p:spPr>
        <p:txBody>
          <a:bodyPr wrap="square" lIns="0" tIns="0" rIns="0" bIns="0" rtlCol="0" anchor="ctr"/>
          <a:lstStyle/>
          <a:p>
            <a:pPr indent="0" marL="0">
              <a:buNone/>
            </a:pPr>
            <a:r>
              <a:rPr lang="en-US" sz="1200" b="1" dirty="0">
                <a:solidFill>
                  <a:schemeClr val="accent2"/>
                </a:solidFill>
              </a:rPr>
              <a:t>Transfer learning: </a:t>
            </a:r>
            <a:pPr indent="0" marL="0">
              <a:buNone/>
            </a:pPr>
            <a:r>
              <a:rPr lang="en-US" sz="1200" dirty="0">
                <a:solidFill>
                  <a:schemeClr val="bg1"/>
                </a:solidFill>
              </a:rPr>
              <a:t>start from a model already trained on ~1.2 million ImageNet photos, then retrain only the last layers on our pet images. Faster training and higher accuracy with less data. Grad-CAM then reads the last convolution layer to draw the heatmap.</a:t>
            </a:r>
            <a:endParaRPr lang="en-US" sz="12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600" b="1" dirty="0">
                <a:solidFill>
                  <a:schemeClr val="tx1"/>
                </a:solidFill>
              </a:rPr>
              <a:t>09 | Application Modules (UI Plan)</a:t>
            </a:r>
            <a:endParaRPr lang="en-US" sz="2600" dirty="0"/>
          </a:p>
        </p:txBody>
      </p:sp>
      <p:sp>
        <p:nvSpPr>
          <p:cNvPr id="3" name="mock window"/>
          <p:cNvSpPr/>
          <p:nvPr/>
        </p:nvSpPr>
        <p:spPr>
          <a:xfrm>
            <a:off x="457200" y="1005840"/>
            <a:ext cx="3931920" cy="3246120"/>
          </a:xfrm>
          <a:prstGeom prst="roundRect">
            <a:avLst>
              <a:gd name="adj" fmla="val 2817"/>
            </a:avLst>
          </a:prstGeom>
          <a:solidFill>
            <a:schemeClr val="bg1"/>
          </a:solidFill>
          <a:ln w="12700">
            <a:solidFill>
              <a:srgbClr val="D9DBE5"/>
            </a:solidFill>
            <a:prstDash val="solid"/>
          </a:ln>
        </p:spPr>
      </p:sp>
      <p:sp>
        <p:nvSpPr>
          <p:cNvPr id="4" name="mock bar"/>
          <p:cNvSpPr/>
          <p:nvPr/>
        </p:nvSpPr>
        <p:spPr>
          <a:xfrm>
            <a:off x="475488" y="1024128"/>
            <a:ext cx="3895344" cy="292608"/>
          </a:xfrm>
          <a:prstGeom prst="rect">
            <a:avLst/>
          </a:prstGeom>
          <a:solidFill>
            <a:schemeClr val="bg2"/>
          </a:solidFill>
          <a:ln/>
        </p:spPr>
      </p:sp>
      <p:sp>
        <p:nvSpPr>
          <p:cNvPr id="5" name="dot"/>
          <p:cNvSpPr/>
          <p:nvPr/>
        </p:nvSpPr>
        <p:spPr>
          <a:xfrm>
            <a:off x="594360" y="1115568"/>
            <a:ext cx="109728" cy="109728"/>
          </a:xfrm>
          <a:prstGeom prst="ellipse">
            <a:avLst/>
          </a:prstGeom>
          <a:solidFill>
            <a:schemeClr val="accent5"/>
          </a:solidFill>
          <a:ln/>
        </p:spPr>
      </p:sp>
      <p:sp>
        <p:nvSpPr>
          <p:cNvPr id="6" name="dot"/>
          <p:cNvSpPr/>
          <p:nvPr/>
        </p:nvSpPr>
        <p:spPr>
          <a:xfrm>
            <a:off x="777240" y="1115568"/>
            <a:ext cx="109728" cy="109728"/>
          </a:xfrm>
          <a:prstGeom prst="ellipse">
            <a:avLst/>
          </a:prstGeom>
          <a:solidFill>
            <a:schemeClr val="accent4"/>
          </a:solidFill>
          <a:ln/>
        </p:spPr>
      </p:sp>
      <p:sp>
        <p:nvSpPr>
          <p:cNvPr id="7" name="dot"/>
          <p:cNvSpPr/>
          <p:nvPr/>
        </p:nvSpPr>
        <p:spPr>
          <a:xfrm>
            <a:off x="960120" y="1115568"/>
            <a:ext cx="109728" cy="109728"/>
          </a:xfrm>
          <a:prstGeom prst="ellipse">
            <a:avLst/>
          </a:prstGeom>
          <a:solidFill>
            <a:schemeClr val="accent2"/>
          </a:solidFill>
          <a:ln/>
        </p:spPr>
      </p:sp>
      <p:sp>
        <p:nvSpPr>
          <p:cNvPr id="8" name="photo area"/>
          <p:cNvSpPr/>
          <p:nvPr/>
        </p:nvSpPr>
        <p:spPr>
          <a:xfrm>
            <a:off x="640080" y="1463040"/>
            <a:ext cx="1737360" cy="1737360"/>
          </a:xfrm>
          <a:prstGeom prst="roundRect">
            <a:avLst>
              <a:gd name="adj" fmla="val 4211"/>
            </a:avLst>
          </a:prstGeom>
          <a:solidFill>
            <a:schemeClr val="bg2"/>
          </a:solidFill>
          <a:ln/>
        </p:spPr>
      </p:sp>
      <p:pic>
        <p:nvPicPr>
          <p:cNvPr id="9" name="Image 0" descr="photo of a cat">    </p:cNvPr>
          <p:cNvPicPr>
            <a:picLocks noChangeAspect="1"/>
          </p:cNvPicPr>
          <p:nvPr/>
        </p:nvPicPr>
        <p:blipFill>
          <a:blip r:embed="rId1"/>
          <a:stretch>
            <a:fillRect/>
          </a:stretch>
        </p:blipFill>
        <p:spPr>
          <a:xfrm>
            <a:off x="960120" y="1783080"/>
            <a:ext cx="1097280" cy="1097280"/>
          </a:xfrm>
          <a:prstGeom prst="rect">
            <a:avLst/>
          </a:prstGeom>
        </p:spPr>
      </p:pic>
      <p:sp>
        <p:nvSpPr>
          <p:cNvPr id="10" name="heatmap blob"/>
          <p:cNvSpPr/>
          <p:nvPr/>
        </p:nvSpPr>
        <p:spPr>
          <a:xfrm>
            <a:off x="914400" y="1600200"/>
            <a:ext cx="914400" cy="777240"/>
          </a:xfrm>
          <a:prstGeom prst="ellipse">
            <a:avLst/>
          </a:prstGeom>
          <a:solidFill>
            <a:schemeClr val="accent5">
              <a:alpha val="40000"/>
            </a:schemeClr>
          </a:solidFill>
          <a:ln/>
        </p:spPr>
      </p:sp>
      <p:sp>
        <p:nvSpPr>
          <p:cNvPr id="11" name="compare slider"/>
          <p:cNvSpPr/>
          <p:nvPr/>
        </p:nvSpPr>
        <p:spPr>
          <a:xfrm>
            <a:off x="1508760" y="1463040"/>
            <a:ext cx="0" cy="1737360"/>
          </a:xfrm>
          <a:prstGeom prst="line">
            <a:avLst/>
          </a:prstGeom>
          <a:noFill/>
          <a:ln w="25400">
            <a:solidFill>
              <a:schemeClr val="bg1"/>
            </a:solidFill>
            <a:prstDash val="solid"/>
          </a:ln>
        </p:spPr>
      </p:sp>
      <p:sp>
        <p:nvSpPr>
          <p:cNvPr id="12" name="Text 9"/>
          <p:cNvSpPr txBox="1"/>
          <p:nvPr/>
        </p:nvSpPr>
        <p:spPr>
          <a:xfrm>
            <a:off x="2560320" y="1463040"/>
            <a:ext cx="914400" cy="365760"/>
          </a:xfrm>
          <a:prstGeom prst="rect">
            <a:avLst/>
          </a:prstGeom>
          <a:noFill/>
          <a:ln/>
        </p:spPr>
        <p:txBody>
          <a:bodyPr wrap="square" lIns="0" tIns="0" rIns="0" bIns="0" rtlCol="0" anchor="ctr"/>
          <a:lstStyle/>
          <a:p>
            <a:pPr indent="0" marL="0">
              <a:buNone/>
            </a:pPr>
            <a:r>
              <a:rPr lang="en-US" sz="1800" b="1" dirty="0">
                <a:solidFill>
                  <a:schemeClr val="tx1"/>
                </a:solidFill>
              </a:rPr>
              <a:t>Cat</a:t>
            </a:r>
            <a:endParaRPr lang="en-US" sz="1800" dirty="0"/>
          </a:p>
        </p:txBody>
      </p:sp>
      <p:sp>
        <p:nvSpPr>
          <p:cNvPr id="13" name="Text 10"/>
          <p:cNvSpPr txBox="1"/>
          <p:nvPr/>
        </p:nvSpPr>
        <p:spPr>
          <a:xfrm>
            <a:off x="2560320" y="1810512"/>
            <a:ext cx="1645920" cy="228600"/>
          </a:xfrm>
          <a:prstGeom prst="rect">
            <a:avLst/>
          </a:prstGeom>
          <a:noFill/>
          <a:ln/>
        </p:spPr>
        <p:txBody>
          <a:bodyPr wrap="square" lIns="0" tIns="0" rIns="0" bIns="0" rtlCol="0" anchor="ctr"/>
          <a:lstStyle/>
          <a:p>
            <a:pPr indent="0" marL="0">
              <a:buNone/>
            </a:pPr>
            <a:r>
              <a:rPr lang="en-US" sz="1000" dirty="0">
                <a:solidFill>
                  <a:schemeClr val="tx2"/>
                </a:solidFill>
              </a:rPr>
              <a:t>high confidence</a:t>
            </a:r>
            <a:endParaRPr lang="en-US" sz="1000" dirty="0"/>
          </a:p>
        </p:txBody>
      </p:sp>
      <p:sp>
        <p:nvSpPr>
          <p:cNvPr id="14" name="Text 11"/>
          <p:cNvSpPr txBox="1"/>
          <p:nvPr/>
        </p:nvSpPr>
        <p:spPr>
          <a:xfrm>
            <a:off x="2560320" y="2148840"/>
            <a:ext cx="1645920" cy="182880"/>
          </a:xfrm>
          <a:prstGeom prst="rect">
            <a:avLst/>
          </a:prstGeom>
          <a:noFill/>
          <a:ln/>
        </p:spPr>
        <p:txBody>
          <a:bodyPr wrap="square" lIns="0" tIns="0" rIns="0" bIns="0" rtlCol="0" anchor="ctr"/>
          <a:lstStyle/>
          <a:p>
            <a:pPr indent="0" marL="0">
              <a:buNone/>
            </a:pPr>
            <a:r>
              <a:rPr lang="en-US" sz="1000" dirty="0">
                <a:solidFill>
                  <a:schemeClr val="tx1"/>
                </a:solidFill>
              </a:rPr>
              <a:t>Persian</a:t>
            </a:r>
            <a:endParaRPr lang="en-US" sz="1000" dirty="0"/>
          </a:p>
        </p:txBody>
      </p:sp>
      <p:sp>
        <p:nvSpPr>
          <p:cNvPr id="15" name="bar bg"/>
          <p:cNvSpPr/>
          <p:nvPr/>
        </p:nvSpPr>
        <p:spPr>
          <a:xfrm>
            <a:off x="2560320" y="2340864"/>
            <a:ext cx="1645920" cy="73152"/>
          </a:xfrm>
          <a:prstGeom prst="roundRect">
            <a:avLst>
              <a:gd name="adj" fmla="val 50000"/>
            </a:avLst>
          </a:prstGeom>
          <a:solidFill>
            <a:schemeClr val="bg2"/>
          </a:solidFill>
          <a:ln/>
        </p:spPr>
      </p:sp>
      <p:sp>
        <p:nvSpPr>
          <p:cNvPr id="16" name="bar"/>
          <p:cNvSpPr/>
          <p:nvPr/>
        </p:nvSpPr>
        <p:spPr>
          <a:xfrm>
            <a:off x="2560320" y="2340864"/>
            <a:ext cx="1463040" cy="73152"/>
          </a:xfrm>
          <a:prstGeom prst="roundRect">
            <a:avLst>
              <a:gd name="adj" fmla="val 50000"/>
            </a:avLst>
          </a:prstGeom>
          <a:solidFill>
            <a:schemeClr val="accent1"/>
          </a:solidFill>
          <a:ln/>
        </p:spPr>
      </p:sp>
      <p:sp>
        <p:nvSpPr>
          <p:cNvPr id="17" name="Text 14"/>
          <p:cNvSpPr txBox="1"/>
          <p:nvPr/>
        </p:nvSpPr>
        <p:spPr>
          <a:xfrm>
            <a:off x="2560320" y="2496312"/>
            <a:ext cx="1645920" cy="182880"/>
          </a:xfrm>
          <a:prstGeom prst="rect">
            <a:avLst/>
          </a:prstGeom>
          <a:noFill/>
          <a:ln/>
        </p:spPr>
        <p:txBody>
          <a:bodyPr wrap="square" lIns="0" tIns="0" rIns="0" bIns="0" rtlCol="0" anchor="ctr"/>
          <a:lstStyle/>
          <a:p>
            <a:pPr indent="0" marL="0">
              <a:buNone/>
            </a:pPr>
            <a:r>
              <a:rPr lang="en-US" sz="1000" dirty="0">
                <a:solidFill>
                  <a:schemeClr val="tx1"/>
                </a:solidFill>
              </a:rPr>
              <a:t>Ragdoll</a:t>
            </a:r>
            <a:endParaRPr lang="en-US" sz="1000" dirty="0"/>
          </a:p>
        </p:txBody>
      </p:sp>
      <p:sp>
        <p:nvSpPr>
          <p:cNvPr id="18" name="bar bg"/>
          <p:cNvSpPr/>
          <p:nvPr/>
        </p:nvSpPr>
        <p:spPr>
          <a:xfrm>
            <a:off x="2560320" y="2688336"/>
            <a:ext cx="1645920" cy="73152"/>
          </a:xfrm>
          <a:prstGeom prst="roundRect">
            <a:avLst>
              <a:gd name="adj" fmla="val 50000"/>
            </a:avLst>
          </a:prstGeom>
          <a:solidFill>
            <a:schemeClr val="bg2"/>
          </a:solidFill>
          <a:ln/>
        </p:spPr>
      </p:sp>
      <p:sp>
        <p:nvSpPr>
          <p:cNvPr id="19" name="bar"/>
          <p:cNvSpPr/>
          <p:nvPr/>
        </p:nvSpPr>
        <p:spPr>
          <a:xfrm>
            <a:off x="2560320" y="2688336"/>
            <a:ext cx="640080" cy="73152"/>
          </a:xfrm>
          <a:prstGeom prst="roundRect">
            <a:avLst>
              <a:gd name="adj" fmla="val 50000"/>
            </a:avLst>
          </a:prstGeom>
          <a:solidFill>
            <a:schemeClr val="accent1"/>
          </a:solidFill>
          <a:ln/>
        </p:spPr>
      </p:sp>
      <p:sp>
        <p:nvSpPr>
          <p:cNvPr id="20" name="Text 17"/>
          <p:cNvSpPr txBox="1"/>
          <p:nvPr/>
        </p:nvSpPr>
        <p:spPr>
          <a:xfrm>
            <a:off x="2560320" y="2843784"/>
            <a:ext cx="1645920" cy="182880"/>
          </a:xfrm>
          <a:prstGeom prst="rect">
            <a:avLst/>
          </a:prstGeom>
          <a:noFill/>
          <a:ln/>
        </p:spPr>
        <p:txBody>
          <a:bodyPr wrap="square" lIns="0" tIns="0" rIns="0" bIns="0" rtlCol="0" anchor="ctr"/>
          <a:lstStyle/>
          <a:p>
            <a:pPr indent="0" marL="0">
              <a:buNone/>
            </a:pPr>
            <a:r>
              <a:rPr lang="en-US" sz="1000" dirty="0">
                <a:solidFill>
                  <a:schemeClr val="tx1"/>
                </a:solidFill>
              </a:rPr>
              <a:t>Birman</a:t>
            </a:r>
            <a:endParaRPr lang="en-US" sz="1000" dirty="0"/>
          </a:p>
        </p:txBody>
      </p:sp>
      <p:sp>
        <p:nvSpPr>
          <p:cNvPr id="21" name="bar bg"/>
          <p:cNvSpPr/>
          <p:nvPr/>
        </p:nvSpPr>
        <p:spPr>
          <a:xfrm>
            <a:off x="2560320" y="3035808"/>
            <a:ext cx="1645920" cy="73152"/>
          </a:xfrm>
          <a:prstGeom prst="roundRect">
            <a:avLst>
              <a:gd name="adj" fmla="val 50000"/>
            </a:avLst>
          </a:prstGeom>
          <a:solidFill>
            <a:schemeClr val="bg2"/>
          </a:solidFill>
          <a:ln/>
        </p:spPr>
      </p:sp>
      <p:sp>
        <p:nvSpPr>
          <p:cNvPr id="22" name="bar"/>
          <p:cNvSpPr/>
          <p:nvPr/>
        </p:nvSpPr>
        <p:spPr>
          <a:xfrm>
            <a:off x="2560320" y="3035808"/>
            <a:ext cx="320040" cy="73152"/>
          </a:xfrm>
          <a:prstGeom prst="roundRect">
            <a:avLst>
              <a:gd name="adj" fmla="val 50000"/>
            </a:avLst>
          </a:prstGeom>
          <a:solidFill>
            <a:schemeClr val="accent1"/>
          </a:solidFill>
          <a:ln/>
        </p:spPr>
      </p:sp>
      <p:sp>
        <p:nvSpPr>
          <p:cNvPr id="23" name="button"/>
          <p:cNvSpPr/>
          <p:nvPr/>
        </p:nvSpPr>
        <p:spPr>
          <a:xfrm>
            <a:off x="640080" y="3383280"/>
            <a:ext cx="1737360" cy="347472"/>
          </a:xfrm>
          <a:prstGeom prst="roundRect">
            <a:avLst>
              <a:gd name="adj" fmla="val 21053"/>
            </a:avLst>
          </a:prstGeom>
          <a:solidFill>
            <a:schemeClr val="accent1"/>
          </a:solidFill>
          <a:ln/>
        </p:spPr>
      </p:sp>
      <p:sp>
        <p:nvSpPr>
          <p:cNvPr id="24" name="Text 21"/>
          <p:cNvSpPr txBox="1"/>
          <p:nvPr/>
        </p:nvSpPr>
        <p:spPr>
          <a:xfrm>
            <a:off x="640080" y="3383280"/>
            <a:ext cx="1737360" cy="347472"/>
          </a:xfrm>
          <a:prstGeom prst="rect">
            <a:avLst/>
          </a:prstGeom>
          <a:noFill/>
          <a:ln/>
        </p:spPr>
        <p:txBody>
          <a:bodyPr wrap="square" lIns="0" tIns="0" rIns="0" bIns="0" rtlCol="0" anchor="ctr"/>
          <a:lstStyle/>
          <a:p>
            <a:pPr algn="ctr" indent="0" marL="0">
              <a:buNone/>
            </a:pPr>
            <a:r>
              <a:rPr lang="en-US" sz="1000" b="1" dirty="0">
                <a:solidFill>
                  <a:schemeClr val="bg1"/>
                </a:solidFill>
              </a:rPr>
              <a:t>Why this answer?</a:t>
            </a:r>
            <a:endParaRPr lang="en-US" sz="1000" dirty="0"/>
          </a:p>
        </p:txBody>
      </p:sp>
      <p:sp>
        <p:nvSpPr>
          <p:cNvPr id="25" name="button 2"/>
          <p:cNvSpPr/>
          <p:nvPr/>
        </p:nvSpPr>
        <p:spPr>
          <a:xfrm>
            <a:off x="2560320" y="3383280"/>
            <a:ext cx="1645920" cy="347472"/>
          </a:xfrm>
          <a:prstGeom prst="roundRect">
            <a:avLst>
              <a:gd name="adj" fmla="val 21053"/>
            </a:avLst>
          </a:prstGeom>
          <a:solidFill>
            <a:schemeClr val="bg1"/>
          </a:solidFill>
          <a:ln w="12700">
            <a:solidFill>
              <a:srgbClr val="D9DBE5"/>
            </a:solidFill>
            <a:prstDash val="solid"/>
          </a:ln>
        </p:spPr>
      </p:sp>
      <p:sp>
        <p:nvSpPr>
          <p:cNvPr id="26" name="Text 23"/>
          <p:cNvSpPr txBox="1"/>
          <p:nvPr/>
        </p:nvSpPr>
        <p:spPr>
          <a:xfrm>
            <a:off x="2560320" y="3383280"/>
            <a:ext cx="1645920" cy="347472"/>
          </a:xfrm>
          <a:prstGeom prst="rect">
            <a:avLst/>
          </a:prstGeom>
          <a:noFill/>
          <a:ln/>
        </p:spPr>
        <p:txBody>
          <a:bodyPr wrap="square" lIns="0" tIns="0" rIns="0" bIns="0" rtlCol="0" anchor="ctr"/>
          <a:lstStyle/>
          <a:p>
            <a:pPr algn="ctr" indent="0" marL="0">
              <a:buNone/>
            </a:pPr>
            <a:r>
              <a:rPr lang="en-US" sz="1000" dirty="0">
                <a:solidFill>
                  <a:schemeClr val="tx1"/>
                </a:solidFill>
              </a:rPr>
              <a:t>Wrong? Tell us</a:t>
            </a:r>
            <a:endParaRPr lang="en-US" sz="1000" dirty="0"/>
          </a:p>
        </p:txBody>
      </p:sp>
      <p:sp>
        <p:nvSpPr>
          <p:cNvPr id="27" name="Text 24"/>
          <p:cNvSpPr txBox="1"/>
          <p:nvPr/>
        </p:nvSpPr>
        <p:spPr>
          <a:xfrm>
            <a:off x="457200" y="4315968"/>
            <a:ext cx="3931920" cy="274320"/>
          </a:xfrm>
          <a:prstGeom prst="rect">
            <a:avLst/>
          </a:prstGeom>
          <a:noFill/>
          <a:ln/>
        </p:spPr>
        <p:txBody>
          <a:bodyPr wrap="square" lIns="0" tIns="0" rIns="0" bIns="0" rtlCol="0" anchor="ctr"/>
          <a:lstStyle/>
          <a:p>
            <a:pPr indent="0" marL="0">
              <a:buNone/>
            </a:pPr>
            <a:r>
              <a:rPr lang="en-US" sz="1000" i="1" dirty="0">
                <a:solidFill>
                  <a:schemeClr val="tx2"/>
                </a:solidFill>
              </a:rPr>
              <a:t>Mock-up of the result screen (illustration only)</a:t>
            </a:r>
            <a:endParaRPr lang="en-US" sz="1000" dirty="0"/>
          </a:p>
        </p:txBody>
      </p:sp>
      <p:sp>
        <p:nvSpPr>
          <p:cNvPr id="28" name="Classify circle"/>
          <p:cNvSpPr/>
          <p:nvPr/>
        </p:nvSpPr>
        <p:spPr>
          <a:xfrm>
            <a:off x="4754880" y="1005840"/>
            <a:ext cx="384048" cy="384048"/>
          </a:xfrm>
          <a:prstGeom prst="ellipse">
            <a:avLst/>
          </a:prstGeom>
          <a:solidFill>
            <a:schemeClr val="accent1"/>
          </a:solidFill>
          <a:ln/>
        </p:spPr>
      </p:sp>
      <p:pic>
        <p:nvPicPr>
          <p:cNvPr id="29" name="Image 1" descr="Classify">    </p:cNvPr>
          <p:cNvPicPr>
            <a:picLocks noChangeAspect="1"/>
          </p:cNvPicPr>
          <p:nvPr/>
        </p:nvPicPr>
        <p:blipFill>
          <a:blip r:embed="rId2"/>
          <a:stretch>
            <a:fillRect/>
          </a:stretch>
        </p:blipFill>
        <p:spPr>
          <a:xfrm>
            <a:off x="4850892" y="1101852"/>
            <a:ext cx="192024" cy="192024"/>
          </a:xfrm>
          <a:prstGeom prst="rect">
            <a:avLst/>
          </a:prstGeom>
        </p:spPr>
      </p:pic>
      <p:sp>
        <p:nvSpPr>
          <p:cNvPr id="30" name="Text 26"/>
          <p:cNvSpPr txBox="1"/>
          <p:nvPr/>
        </p:nvSpPr>
        <p:spPr>
          <a:xfrm>
            <a:off x="5257800" y="969264"/>
            <a:ext cx="3429000" cy="457200"/>
          </a:xfrm>
          <a:prstGeom prst="rect">
            <a:avLst/>
          </a:prstGeom>
          <a:noFill/>
          <a:ln/>
        </p:spPr>
        <p:txBody>
          <a:bodyPr wrap="square" lIns="0" tIns="0" rIns="0" bIns="0" rtlCol="0" anchor="ctr"/>
          <a:lstStyle/>
          <a:p>
            <a:pPr indent="0" marL="0">
              <a:buNone/>
            </a:pPr>
            <a:r>
              <a:rPr lang="en-US" sz="1200" b="1" dirty="0">
                <a:solidFill>
                  <a:schemeClr val="tx1"/>
                </a:solidFill>
              </a:rPr>
              <a:t>Classify  </a:t>
            </a:r>
            <a:pPr indent="0" marL="0">
              <a:buNone/>
            </a:pPr>
            <a:r>
              <a:rPr lang="en-US" sz="1200" dirty="0">
                <a:solidFill>
                  <a:schemeClr val="tx2"/>
                </a:solidFill>
              </a:rPr>
              <a:t>drag &amp; drop or paste a photo, instant result</a:t>
            </a:r>
            <a:endParaRPr lang="en-US" sz="1200" dirty="0"/>
          </a:p>
        </p:txBody>
      </p:sp>
      <p:sp>
        <p:nvSpPr>
          <p:cNvPr id="31" name="Live Camera circle"/>
          <p:cNvSpPr/>
          <p:nvPr/>
        </p:nvSpPr>
        <p:spPr>
          <a:xfrm>
            <a:off x="4754880" y="1554480"/>
            <a:ext cx="384048" cy="384048"/>
          </a:xfrm>
          <a:prstGeom prst="ellipse">
            <a:avLst/>
          </a:prstGeom>
          <a:solidFill>
            <a:schemeClr val="accent6"/>
          </a:solidFill>
          <a:ln/>
        </p:spPr>
      </p:sp>
      <p:pic>
        <p:nvPicPr>
          <p:cNvPr id="32" name="Image 2" descr="Live Camera">    </p:cNvPr>
          <p:cNvPicPr>
            <a:picLocks noChangeAspect="1"/>
          </p:cNvPicPr>
          <p:nvPr/>
        </p:nvPicPr>
        <p:blipFill>
          <a:blip r:embed="rId3"/>
          <a:stretch>
            <a:fillRect/>
          </a:stretch>
        </p:blipFill>
        <p:spPr>
          <a:xfrm>
            <a:off x="4850892" y="1650492"/>
            <a:ext cx="192024" cy="192024"/>
          </a:xfrm>
          <a:prstGeom prst="rect">
            <a:avLst/>
          </a:prstGeom>
        </p:spPr>
      </p:pic>
      <p:sp>
        <p:nvSpPr>
          <p:cNvPr id="33" name="Text 28"/>
          <p:cNvSpPr txBox="1"/>
          <p:nvPr/>
        </p:nvSpPr>
        <p:spPr>
          <a:xfrm>
            <a:off x="5257800" y="1517904"/>
            <a:ext cx="3429000" cy="457200"/>
          </a:xfrm>
          <a:prstGeom prst="rect">
            <a:avLst/>
          </a:prstGeom>
          <a:noFill/>
          <a:ln/>
        </p:spPr>
        <p:txBody>
          <a:bodyPr wrap="square" lIns="0" tIns="0" rIns="0" bIns="0" rtlCol="0" anchor="ctr"/>
          <a:lstStyle/>
          <a:p>
            <a:pPr indent="0" marL="0">
              <a:buNone/>
            </a:pPr>
            <a:r>
              <a:rPr lang="en-US" sz="1200" b="1" dirty="0">
                <a:solidFill>
                  <a:schemeClr val="tx1"/>
                </a:solidFill>
              </a:rPr>
              <a:t>Live Camera  </a:t>
            </a:r>
            <a:pPr indent="0" marL="0">
              <a:buNone/>
            </a:pPr>
            <a:r>
              <a:rPr lang="en-US" sz="1200" dirty="0">
                <a:solidFill>
                  <a:schemeClr val="tx2"/>
                </a:solidFill>
              </a:rPr>
              <a:t>real-time predictions from phone or webcam</a:t>
            </a:r>
            <a:endParaRPr lang="en-US" sz="1200" dirty="0"/>
          </a:p>
        </p:txBody>
      </p:sp>
      <p:sp>
        <p:nvSpPr>
          <p:cNvPr id="34" name="Batch Sorter circle"/>
          <p:cNvSpPr/>
          <p:nvPr/>
        </p:nvSpPr>
        <p:spPr>
          <a:xfrm>
            <a:off x="4754880" y="2103120"/>
            <a:ext cx="384048" cy="384048"/>
          </a:xfrm>
          <a:prstGeom prst="ellipse">
            <a:avLst/>
          </a:prstGeom>
          <a:solidFill>
            <a:schemeClr val="accent4"/>
          </a:solidFill>
          <a:ln/>
        </p:spPr>
      </p:sp>
      <p:pic>
        <p:nvPicPr>
          <p:cNvPr id="35" name="Image 3" descr="Batch Sorter">    </p:cNvPr>
          <p:cNvPicPr>
            <a:picLocks noChangeAspect="1"/>
          </p:cNvPicPr>
          <p:nvPr/>
        </p:nvPicPr>
        <p:blipFill>
          <a:blip r:embed="rId4"/>
          <a:stretch>
            <a:fillRect/>
          </a:stretch>
        </p:blipFill>
        <p:spPr>
          <a:xfrm>
            <a:off x="4850892" y="2199132"/>
            <a:ext cx="192024" cy="192024"/>
          </a:xfrm>
          <a:prstGeom prst="rect">
            <a:avLst/>
          </a:prstGeom>
        </p:spPr>
      </p:pic>
      <p:sp>
        <p:nvSpPr>
          <p:cNvPr id="36" name="Text 30"/>
          <p:cNvSpPr txBox="1"/>
          <p:nvPr/>
        </p:nvSpPr>
        <p:spPr>
          <a:xfrm>
            <a:off x="5257800" y="2066544"/>
            <a:ext cx="3429000" cy="457200"/>
          </a:xfrm>
          <a:prstGeom prst="rect">
            <a:avLst/>
          </a:prstGeom>
          <a:noFill/>
          <a:ln/>
        </p:spPr>
        <p:txBody>
          <a:bodyPr wrap="square" lIns="0" tIns="0" rIns="0" bIns="0" rtlCol="0" anchor="ctr"/>
          <a:lstStyle/>
          <a:p>
            <a:pPr indent="0" marL="0">
              <a:buNone/>
            </a:pPr>
            <a:r>
              <a:rPr lang="en-US" sz="1200" b="1" dirty="0">
                <a:solidFill>
                  <a:schemeClr val="tx1"/>
                </a:solidFill>
              </a:rPr>
              <a:t>Batch Sorter  </a:t>
            </a:r>
            <a:pPr indent="0" marL="0">
              <a:buNone/>
            </a:pPr>
            <a:r>
              <a:rPr lang="en-US" sz="1200" dirty="0">
                <a:solidFill>
                  <a:schemeClr val="tx2"/>
                </a:solidFill>
              </a:rPr>
              <a:t>50 photos at once, filter, export ZIP / CSV</a:t>
            </a:r>
            <a:endParaRPr lang="en-US" sz="1200" dirty="0"/>
          </a:p>
        </p:txBody>
      </p:sp>
      <p:sp>
        <p:nvSpPr>
          <p:cNvPr id="37" name="Stress Test Lab circle"/>
          <p:cNvSpPr/>
          <p:nvPr/>
        </p:nvSpPr>
        <p:spPr>
          <a:xfrm>
            <a:off x="4754880" y="2651760"/>
            <a:ext cx="384048" cy="384048"/>
          </a:xfrm>
          <a:prstGeom prst="ellipse">
            <a:avLst/>
          </a:prstGeom>
          <a:solidFill>
            <a:schemeClr val="accent5"/>
          </a:solidFill>
          <a:ln/>
        </p:spPr>
      </p:sp>
      <p:pic>
        <p:nvPicPr>
          <p:cNvPr id="38" name="Image 4" descr="Stress Test Lab">    </p:cNvPr>
          <p:cNvPicPr>
            <a:picLocks noChangeAspect="1"/>
          </p:cNvPicPr>
          <p:nvPr/>
        </p:nvPicPr>
        <p:blipFill>
          <a:blip r:embed="rId5"/>
          <a:stretch>
            <a:fillRect/>
          </a:stretch>
        </p:blipFill>
        <p:spPr>
          <a:xfrm>
            <a:off x="4850892" y="2747772"/>
            <a:ext cx="192024" cy="192024"/>
          </a:xfrm>
          <a:prstGeom prst="rect">
            <a:avLst/>
          </a:prstGeom>
        </p:spPr>
      </p:pic>
      <p:sp>
        <p:nvSpPr>
          <p:cNvPr id="39" name="Text 32"/>
          <p:cNvSpPr txBox="1"/>
          <p:nvPr/>
        </p:nvSpPr>
        <p:spPr>
          <a:xfrm>
            <a:off x="5257800" y="2615184"/>
            <a:ext cx="3429000" cy="457200"/>
          </a:xfrm>
          <a:prstGeom prst="rect">
            <a:avLst/>
          </a:prstGeom>
          <a:noFill/>
          <a:ln/>
        </p:spPr>
        <p:txBody>
          <a:bodyPr wrap="square" lIns="0" tIns="0" rIns="0" bIns="0" rtlCol="0" anchor="ctr"/>
          <a:lstStyle/>
          <a:p>
            <a:pPr indent="0" marL="0">
              <a:buNone/>
            </a:pPr>
            <a:r>
              <a:rPr lang="en-US" sz="1200" b="1" dirty="0">
                <a:solidFill>
                  <a:schemeClr val="tx1"/>
                </a:solidFill>
              </a:rPr>
              <a:t>Stress Test Lab  </a:t>
            </a:r>
            <a:pPr indent="0" marL="0">
              <a:buNone/>
            </a:pPr>
            <a:r>
              <a:rPr lang="en-US" sz="1200" dirty="0">
                <a:solidFill>
                  <a:schemeClr val="tx2"/>
                </a:solidFill>
              </a:rPr>
              <a:t>confidence charts under blur, light, rotation</a:t>
            </a:r>
            <a:endParaRPr lang="en-US" sz="1200" dirty="0"/>
          </a:p>
        </p:txBody>
      </p:sp>
      <p:sp>
        <p:nvSpPr>
          <p:cNvPr id="40" name="Model Lab circle"/>
          <p:cNvSpPr/>
          <p:nvPr/>
        </p:nvSpPr>
        <p:spPr>
          <a:xfrm>
            <a:off x="4754880" y="3200400"/>
            <a:ext cx="384048" cy="384048"/>
          </a:xfrm>
          <a:prstGeom prst="ellipse">
            <a:avLst/>
          </a:prstGeom>
          <a:solidFill>
            <a:schemeClr val="accent2"/>
          </a:solidFill>
          <a:ln/>
        </p:spPr>
      </p:sp>
      <p:pic>
        <p:nvPicPr>
          <p:cNvPr id="41" name="Image 5" descr="Model Lab">    </p:cNvPr>
          <p:cNvPicPr>
            <a:picLocks noChangeAspect="1"/>
          </p:cNvPicPr>
          <p:nvPr/>
        </p:nvPicPr>
        <p:blipFill>
          <a:blip r:embed="rId6"/>
          <a:stretch>
            <a:fillRect/>
          </a:stretch>
        </p:blipFill>
        <p:spPr>
          <a:xfrm>
            <a:off x="4850892" y="3296412"/>
            <a:ext cx="192024" cy="192024"/>
          </a:xfrm>
          <a:prstGeom prst="rect">
            <a:avLst/>
          </a:prstGeom>
        </p:spPr>
      </p:pic>
      <p:sp>
        <p:nvSpPr>
          <p:cNvPr id="42" name="Text 34"/>
          <p:cNvSpPr txBox="1"/>
          <p:nvPr/>
        </p:nvSpPr>
        <p:spPr>
          <a:xfrm>
            <a:off x="5257800" y="3163824"/>
            <a:ext cx="3429000" cy="457200"/>
          </a:xfrm>
          <a:prstGeom prst="rect">
            <a:avLst/>
          </a:prstGeom>
          <a:noFill/>
          <a:ln/>
        </p:spPr>
        <p:txBody>
          <a:bodyPr wrap="square" lIns="0" tIns="0" rIns="0" bIns="0" rtlCol="0" anchor="ctr"/>
          <a:lstStyle/>
          <a:p>
            <a:pPr indent="0" marL="0">
              <a:buNone/>
            </a:pPr>
            <a:r>
              <a:rPr lang="en-US" sz="1200" b="1" dirty="0">
                <a:solidFill>
                  <a:schemeClr val="tx1"/>
                </a:solidFill>
              </a:rPr>
              <a:t>Model Lab  </a:t>
            </a:r>
            <a:pPr indent="0" marL="0">
              <a:buNone/>
            </a:pPr>
            <a:r>
              <a:rPr lang="en-US" sz="1200" dirty="0">
                <a:solidFill>
                  <a:schemeClr val="tx2"/>
                </a:solidFill>
              </a:rPr>
              <a:t>accuracy, confusion matrix, model comparison</a:t>
            </a:r>
            <a:endParaRPr lang="en-US" sz="1200" dirty="0"/>
          </a:p>
        </p:txBody>
      </p:sp>
      <p:sp>
        <p:nvSpPr>
          <p:cNvPr id="43" name="History circle"/>
          <p:cNvSpPr/>
          <p:nvPr/>
        </p:nvSpPr>
        <p:spPr>
          <a:xfrm>
            <a:off x="4754880" y="3749040"/>
            <a:ext cx="384048" cy="384048"/>
          </a:xfrm>
          <a:prstGeom prst="ellipse">
            <a:avLst/>
          </a:prstGeom>
          <a:solidFill>
            <a:schemeClr val="accent3"/>
          </a:solidFill>
          <a:ln/>
        </p:spPr>
      </p:sp>
      <p:pic>
        <p:nvPicPr>
          <p:cNvPr id="44" name="Image 6" descr="History">    </p:cNvPr>
          <p:cNvPicPr>
            <a:picLocks noChangeAspect="1"/>
          </p:cNvPicPr>
          <p:nvPr/>
        </p:nvPicPr>
        <p:blipFill>
          <a:blip r:embed="rId7"/>
          <a:stretch>
            <a:fillRect/>
          </a:stretch>
        </p:blipFill>
        <p:spPr>
          <a:xfrm>
            <a:off x="4850892" y="3845052"/>
            <a:ext cx="192024" cy="192024"/>
          </a:xfrm>
          <a:prstGeom prst="rect">
            <a:avLst/>
          </a:prstGeom>
        </p:spPr>
      </p:pic>
      <p:sp>
        <p:nvSpPr>
          <p:cNvPr id="45" name="Text 36"/>
          <p:cNvSpPr txBox="1"/>
          <p:nvPr/>
        </p:nvSpPr>
        <p:spPr>
          <a:xfrm>
            <a:off x="5257800" y="3712464"/>
            <a:ext cx="3429000" cy="457200"/>
          </a:xfrm>
          <a:prstGeom prst="rect">
            <a:avLst/>
          </a:prstGeom>
          <a:noFill/>
          <a:ln/>
        </p:spPr>
        <p:txBody>
          <a:bodyPr wrap="square" lIns="0" tIns="0" rIns="0" bIns="0" rtlCol="0" anchor="ctr"/>
          <a:lstStyle/>
          <a:p>
            <a:pPr indent="0" marL="0">
              <a:buNone/>
            </a:pPr>
            <a:r>
              <a:rPr lang="en-US" sz="1200" b="1" dirty="0">
                <a:solidFill>
                  <a:schemeClr val="tx1"/>
                </a:solidFill>
              </a:rPr>
              <a:t>History  </a:t>
            </a:r>
            <a:pPr indent="0" marL="0">
              <a:buNone/>
            </a:pPr>
            <a:r>
              <a:rPr lang="en-US" sz="1200" dirty="0">
                <a:solidFill>
                  <a:schemeClr val="tx2"/>
                </a:solidFill>
              </a:rPr>
              <a:t>past results and wrong-prediction feedback</a:t>
            </a:r>
            <a:endParaRPr lang="en-US" sz="1200" dirty="0"/>
          </a:p>
        </p:txBody>
      </p:sp>
      <p:sp>
        <p:nvSpPr>
          <p:cNvPr id="46" name="Text 37"/>
          <p:cNvSpPr txBox="1"/>
          <p:nvPr/>
        </p:nvSpPr>
        <p:spPr>
          <a:xfrm>
            <a:off x="4754880" y="4315968"/>
            <a:ext cx="3931920" cy="274320"/>
          </a:xfrm>
          <a:prstGeom prst="rect">
            <a:avLst/>
          </a:prstGeom>
          <a:noFill/>
          <a:ln/>
        </p:spPr>
        <p:txBody>
          <a:bodyPr wrap="square" lIns="0" tIns="0" rIns="0" bIns="0" rtlCol="0" anchor="ctr"/>
          <a:lstStyle/>
          <a:p>
            <a:pPr indent="0" marL="0">
              <a:buNone/>
            </a:pPr>
            <a:r>
              <a:rPr lang="en-US" sz="1000" i="1" dirty="0">
                <a:solidFill>
                  <a:schemeClr val="tx2"/>
                </a:solidFill>
              </a:rPr>
              <a:t>Works on phone, tablet and laptop · dark / light theme</a:t>
            </a:r>
            <a:endParaRPr lang="en-US" sz="10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600" b="1" dirty="0">
                <a:solidFill>
                  <a:schemeClr val="tx1"/>
                </a:solidFill>
              </a:rPr>
              <a:t>10 | Tools &amp; Technologies</a:t>
            </a:r>
            <a:endParaRPr lang="en-US" sz="2600" dirty="0"/>
          </a:p>
        </p:txBody>
      </p:sp>
      <p:sp>
        <p:nvSpPr>
          <p:cNvPr id="3" name="Deep Learning card"/>
          <p:cNvSpPr/>
          <p:nvPr/>
        </p:nvSpPr>
        <p:spPr>
          <a:xfrm>
            <a:off x="457200" y="1005840"/>
            <a:ext cx="4023360" cy="1005840"/>
          </a:xfrm>
          <a:prstGeom prst="roundRect">
            <a:avLst>
              <a:gd name="adj" fmla="val 7273"/>
            </a:avLst>
          </a:prstGeom>
          <a:solidFill>
            <a:schemeClr val="bg2"/>
          </a:solidFill>
          <a:ln/>
        </p:spPr>
      </p:sp>
      <p:sp>
        <p:nvSpPr>
          <p:cNvPr id="4" name="Deep Learning circle"/>
          <p:cNvSpPr/>
          <p:nvPr/>
        </p:nvSpPr>
        <p:spPr>
          <a:xfrm>
            <a:off x="658368" y="1234440"/>
            <a:ext cx="548640" cy="548640"/>
          </a:xfrm>
          <a:prstGeom prst="ellipse">
            <a:avLst/>
          </a:prstGeom>
          <a:solidFill>
            <a:schemeClr val="accent2"/>
          </a:solidFill>
          <a:ln/>
        </p:spPr>
      </p:sp>
      <p:pic>
        <p:nvPicPr>
          <p:cNvPr id="5" name="Image 0" descr="Deep Learning">    </p:cNvPr>
          <p:cNvPicPr>
            <a:picLocks noChangeAspect="1"/>
          </p:cNvPicPr>
          <p:nvPr/>
        </p:nvPicPr>
        <p:blipFill>
          <a:blip r:embed="rId1"/>
          <a:stretch>
            <a:fillRect/>
          </a:stretch>
        </p:blipFill>
        <p:spPr>
          <a:xfrm>
            <a:off x="795528" y="1371600"/>
            <a:ext cx="274320" cy="274320"/>
          </a:xfrm>
          <a:prstGeom prst="rect">
            <a:avLst/>
          </a:prstGeom>
        </p:spPr>
      </p:pic>
      <p:sp>
        <p:nvSpPr>
          <p:cNvPr id="6" name="Text 3"/>
          <p:cNvSpPr txBox="1"/>
          <p:nvPr/>
        </p:nvSpPr>
        <p:spPr>
          <a:xfrm>
            <a:off x="1371600" y="1078992"/>
            <a:ext cx="2971800" cy="859536"/>
          </a:xfrm>
          <a:prstGeom prst="rect">
            <a:avLst/>
          </a:prstGeom>
          <a:noFill/>
          <a:ln/>
        </p:spPr>
        <p:txBody>
          <a:bodyPr wrap="square" lIns="0" tIns="0" rIns="0" bIns="0" rtlCol="0" anchor="ctr"/>
          <a:lstStyle/>
          <a:p>
            <a:pPr indent="0" marL="0">
              <a:spcAft>
                <a:spcPts val="200"/>
              </a:spcAft>
              <a:buNone/>
            </a:pPr>
            <a:r>
              <a:rPr lang="en-US" sz="1400" b="1" dirty="0">
                <a:solidFill>
                  <a:schemeClr val="tx1"/>
                </a:solidFill>
              </a:rPr>
              <a:t>Deep Learning</a:t>
            </a:r>
            <a:endParaRPr lang="en-US" sz="1400" dirty="0"/>
          </a:p>
          <a:p>
            <a:pPr indent="0" marL="0">
              <a:spcAft>
                <a:spcPts val="200"/>
              </a:spcAft>
              <a:buNone/>
            </a:pPr>
            <a:r>
              <a:rPr lang="en-US" sz="1200" dirty="0">
                <a:solidFill>
                  <a:schemeClr val="tx2"/>
                </a:solidFill>
              </a:rPr>
              <a:t>TensorFlow 2 / Keras, TensorFlow Datasets</a:t>
            </a:r>
            <a:endParaRPr lang="en-US" sz="1400" dirty="0"/>
          </a:p>
        </p:txBody>
      </p:sp>
      <p:sp>
        <p:nvSpPr>
          <p:cNvPr id="7" name="Backend card"/>
          <p:cNvSpPr/>
          <p:nvPr/>
        </p:nvSpPr>
        <p:spPr>
          <a:xfrm>
            <a:off x="4663440" y="1005840"/>
            <a:ext cx="4023360" cy="1005840"/>
          </a:xfrm>
          <a:prstGeom prst="roundRect">
            <a:avLst>
              <a:gd name="adj" fmla="val 7273"/>
            </a:avLst>
          </a:prstGeom>
          <a:solidFill>
            <a:schemeClr val="bg2"/>
          </a:solidFill>
          <a:ln/>
        </p:spPr>
      </p:sp>
      <p:sp>
        <p:nvSpPr>
          <p:cNvPr id="8" name="Backend circle"/>
          <p:cNvSpPr/>
          <p:nvPr/>
        </p:nvSpPr>
        <p:spPr>
          <a:xfrm>
            <a:off x="4864608" y="1234440"/>
            <a:ext cx="548640" cy="548640"/>
          </a:xfrm>
          <a:prstGeom prst="ellipse">
            <a:avLst/>
          </a:prstGeom>
          <a:solidFill>
            <a:schemeClr val="tx1"/>
          </a:solidFill>
          <a:ln/>
        </p:spPr>
      </p:sp>
      <p:pic>
        <p:nvPicPr>
          <p:cNvPr id="9" name="Image 1" descr="Backend">    </p:cNvPr>
          <p:cNvPicPr>
            <a:picLocks noChangeAspect="1"/>
          </p:cNvPicPr>
          <p:nvPr/>
        </p:nvPicPr>
        <p:blipFill>
          <a:blip r:embed="rId2"/>
          <a:stretch>
            <a:fillRect/>
          </a:stretch>
        </p:blipFill>
        <p:spPr>
          <a:xfrm>
            <a:off x="5001768" y="1371600"/>
            <a:ext cx="274320" cy="274320"/>
          </a:xfrm>
          <a:prstGeom prst="rect">
            <a:avLst/>
          </a:prstGeom>
        </p:spPr>
      </p:pic>
      <p:sp>
        <p:nvSpPr>
          <p:cNvPr id="10" name="Text 6"/>
          <p:cNvSpPr txBox="1"/>
          <p:nvPr/>
        </p:nvSpPr>
        <p:spPr>
          <a:xfrm>
            <a:off x="5577840" y="1078992"/>
            <a:ext cx="2971800" cy="859536"/>
          </a:xfrm>
          <a:prstGeom prst="rect">
            <a:avLst/>
          </a:prstGeom>
          <a:noFill/>
          <a:ln/>
        </p:spPr>
        <p:txBody>
          <a:bodyPr wrap="square" lIns="0" tIns="0" rIns="0" bIns="0" rtlCol="0" anchor="ctr"/>
          <a:lstStyle/>
          <a:p>
            <a:pPr indent="0" marL="0">
              <a:spcAft>
                <a:spcPts val="200"/>
              </a:spcAft>
              <a:buNone/>
            </a:pPr>
            <a:r>
              <a:rPr lang="en-US" sz="1400" b="1" dirty="0">
                <a:solidFill>
                  <a:schemeClr val="tx1"/>
                </a:solidFill>
              </a:rPr>
              <a:t>Backend</a:t>
            </a:r>
            <a:endParaRPr lang="en-US" sz="1400" dirty="0"/>
          </a:p>
          <a:p>
            <a:pPr indent="0" marL="0">
              <a:spcAft>
                <a:spcPts val="200"/>
              </a:spcAft>
              <a:buNone/>
            </a:pPr>
            <a:r>
              <a:rPr lang="en-US" sz="1200" dirty="0">
                <a:solidFill>
                  <a:schemeClr val="tx2"/>
                </a:solidFill>
              </a:rPr>
              <a:t>Python, FastAPI, Uvicorn</a:t>
            </a:r>
            <a:endParaRPr lang="en-US" sz="1400" dirty="0"/>
          </a:p>
        </p:txBody>
      </p:sp>
      <p:sp>
        <p:nvSpPr>
          <p:cNvPr id="11" name="Data &amp; Charts card"/>
          <p:cNvSpPr/>
          <p:nvPr/>
        </p:nvSpPr>
        <p:spPr>
          <a:xfrm>
            <a:off x="457200" y="2167128"/>
            <a:ext cx="4023360" cy="1005840"/>
          </a:xfrm>
          <a:prstGeom prst="roundRect">
            <a:avLst>
              <a:gd name="adj" fmla="val 7273"/>
            </a:avLst>
          </a:prstGeom>
          <a:solidFill>
            <a:schemeClr val="bg2"/>
          </a:solidFill>
          <a:ln/>
        </p:spPr>
      </p:sp>
      <p:sp>
        <p:nvSpPr>
          <p:cNvPr id="12" name="Data &amp; Charts circle"/>
          <p:cNvSpPr/>
          <p:nvPr/>
        </p:nvSpPr>
        <p:spPr>
          <a:xfrm>
            <a:off x="658368" y="2395728"/>
            <a:ext cx="548640" cy="548640"/>
          </a:xfrm>
          <a:prstGeom prst="ellipse">
            <a:avLst/>
          </a:prstGeom>
          <a:solidFill>
            <a:schemeClr val="accent1"/>
          </a:solidFill>
          <a:ln/>
        </p:spPr>
      </p:sp>
      <p:pic>
        <p:nvPicPr>
          <p:cNvPr id="13" name="Image 2" descr="Data &amp; Charts">    </p:cNvPr>
          <p:cNvPicPr>
            <a:picLocks noChangeAspect="1"/>
          </p:cNvPicPr>
          <p:nvPr/>
        </p:nvPicPr>
        <p:blipFill>
          <a:blip r:embed="rId3"/>
          <a:stretch>
            <a:fillRect/>
          </a:stretch>
        </p:blipFill>
        <p:spPr>
          <a:xfrm>
            <a:off x="795528" y="2532888"/>
            <a:ext cx="274320" cy="274320"/>
          </a:xfrm>
          <a:prstGeom prst="rect">
            <a:avLst/>
          </a:prstGeom>
        </p:spPr>
      </p:pic>
      <p:sp>
        <p:nvSpPr>
          <p:cNvPr id="14" name="Text 9"/>
          <p:cNvSpPr txBox="1"/>
          <p:nvPr/>
        </p:nvSpPr>
        <p:spPr>
          <a:xfrm>
            <a:off x="1371600" y="2240280"/>
            <a:ext cx="2971800" cy="859536"/>
          </a:xfrm>
          <a:prstGeom prst="rect">
            <a:avLst/>
          </a:prstGeom>
          <a:noFill/>
          <a:ln/>
        </p:spPr>
        <p:txBody>
          <a:bodyPr wrap="square" lIns="0" tIns="0" rIns="0" bIns="0" rtlCol="0" anchor="ctr"/>
          <a:lstStyle/>
          <a:p>
            <a:pPr indent="0" marL="0">
              <a:spcAft>
                <a:spcPts val="200"/>
              </a:spcAft>
              <a:buNone/>
            </a:pPr>
            <a:r>
              <a:rPr lang="en-US" sz="1400" b="1" dirty="0">
                <a:solidFill>
                  <a:schemeClr val="tx1"/>
                </a:solidFill>
              </a:rPr>
              <a:t>Data &amp; Charts</a:t>
            </a:r>
            <a:endParaRPr lang="en-US" sz="1400" dirty="0"/>
          </a:p>
          <a:p>
            <a:pPr indent="0" marL="0">
              <a:spcAft>
                <a:spcPts val="200"/>
              </a:spcAft>
              <a:buNone/>
            </a:pPr>
            <a:r>
              <a:rPr lang="en-US" sz="1200" dirty="0">
                <a:solidFill>
                  <a:schemeClr val="tx2"/>
                </a:solidFill>
              </a:rPr>
              <a:t>NumPy, OpenCV, Matplotlib, Seaborn, scikit-learn</a:t>
            </a:r>
            <a:endParaRPr lang="en-US" sz="1400" dirty="0"/>
          </a:p>
        </p:txBody>
      </p:sp>
      <p:sp>
        <p:nvSpPr>
          <p:cNvPr id="15" name="Frontend card"/>
          <p:cNvSpPr/>
          <p:nvPr/>
        </p:nvSpPr>
        <p:spPr>
          <a:xfrm>
            <a:off x="4663440" y="2167128"/>
            <a:ext cx="4023360" cy="1005840"/>
          </a:xfrm>
          <a:prstGeom prst="roundRect">
            <a:avLst>
              <a:gd name="adj" fmla="val 7273"/>
            </a:avLst>
          </a:prstGeom>
          <a:solidFill>
            <a:schemeClr val="bg2"/>
          </a:solidFill>
          <a:ln/>
        </p:spPr>
      </p:sp>
      <p:sp>
        <p:nvSpPr>
          <p:cNvPr id="16" name="Frontend circle"/>
          <p:cNvSpPr/>
          <p:nvPr/>
        </p:nvSpPr>
        <p:spPr>
          <a:xfrm>
            <a:off x="4864608" y="2395728"/>
            <a:ext cx="548640" cy="548640"/>
          </a:xfrm>
          <a:prstGeom prst="ellipse">
            <a:avLst/>
          </a:prstGeom>
          <a:solidFill>
            <a:schemeClr val="accent6"/>
          </a:solidFill>
          <a:ln/>
        </p:spPr>
      </p:sp>
      <p:pic>
        <p:nvPicPr>
          <p:cNvPr id="17" name="Image 3" descr="Frontend">    </p:cNvPr>
          <p:cNvPicPr>
            <a:picLocks noChangeAspect="1"/>
          </p:cNvPicPr>
          <p:nvPr/>
        </p:nvPicPr>
        <p:blipFill>
          <a:blip r:embed="rId4"/>
          <a:stretch>
            <a:fillRect/>
          </a:stretch>
        </p:blipFill>
        <p:spPr>
          <a:xfrm>
            <a:off x="5001768" y="2532888"/>
            <a:ext cx="274320" cy="274320"/>
          </a:xfrm>
          <a:prstGeom prst="rect">
            <a:avLst/>
          </a:prstGeom>
        </p:spPr>
      </p:pic>
      <p:sp>
        <p:nvSpPr>
          <p:cNvPr id="18" name="Text 12"/>
          <p:cNvSpPr txBox="1"/>
          <p:nvPr/>
        </p:nvSpPr>
        <p:spPr>
          <a:xfrm>
            <a:off x="5577840" y="2240280"/>
            <a:ext cx="2971800" cy="859536"/>
          </a:xfrm>
          <a:prstGeom prst="rect">
            <a:avLst/>
          </a:prstGeom>
          <a:noFill/>
          <a:ln/>
        </p:spPr>
        <p:txBody>
          <a:bodyPr wrap="square" lIns="0" tIns="0" rIns="0" bIns="0" rtlCol="0" anchor="ctr"/>
          <a:lstStyle/>
          <a:p>
            <a:pPr indent="0" marL="0">
              <a:spcAft>
                <a:spcPts val="200"/>
              </a:spcAft>
              <a:buNone/>
            </a:pPr>
            <a:r>
              <a:rPr lang="en-US" sz="1400" b="1" dirty="0">
                <a:solidFill>
                  <a:schemeClr val="tx1"/>
                </a:solidFill>
              </a:rPr>
              <a:t>Frontend</a:t>
            </a:r>
            <a:endParaRPr lang="en-US" sz="1400" dirty="0"/>
          </a:p>
          <a:p>
            <a:pPr indent="0" marL="0">
              <a:spcAft>
                <a:spcPts val="200"/>
              </a:spcAft>
              <a:buNone/>
            </a:pPr>
            <a:r>
              <a:rPr lang="en-US" sz="1200" dirty="0">
                <a:solidFill>
                  <a:schemeClr val="tx2"/>
                </a:solidFill>
              </a:rPr>
              <a:t>React, TypeScript, Tailwind CSS, Framer Motion, Recharts</a:t>
            </a:r>
            <a:endParaRPr lang="en-US" sz="1400" dirty="0"/>
          </a:p>
        </p:txBody>
      </p:sp>
      <p:sp>
        <p:nvSpPr>
          <p:cNvPr id="19" name="Explainable AI card"/>
          <p:cNvSpPr/>
          <p:nvPr/>
        </p:nvSpPr>
        <p:spPr>
          <a:xfrm>
            <a:off x="457200" y="3328416"/>
            <a:ext cx="4023360" cy="1005840"/>
          </a:xfrm>
          <a:prstGeom prst="roundRect">
            <a:avLst>
              <a:gd name="adj" fmla="val 7273"/>
            </a:avLst>
          </a:prstGeom>
          <a:solidFill>
            <a:schemeClr val="bg2"/>
          </a:solidFill>
          <a:ln/>
        </p:spPr>
      </p:sp>
      <p:sp>
        <p:nvSpPr>
          <p:cNvPr id="20" name="Explainable AI circle"/>
          <p:cNvSpPr/>
          <p:nvPr/>
        </p:nvSpPr>
        <p:spPr>
          <a:xfrm>
            <a:off x="658368" y="3557016"/>
            <a:ext cx="548640" cy="548640"/>
          </a:xfrm>
          <a:prstGeom prst="ellipse">
            <a:avLst/>
          </a:prstGeom>
          <a:solidFill>
            <a:schemeClr val="accent3"/>
          </a:solidFill>
          <a:ln/>
        </p:spPr>
      </p:sp>
      <p:pic>
        <p:nvPicPr>
          <p:cNvPr id="21" name="Image 4" descr="Explainable AI">    </p:cNvPr>
          <p:cNvPicPr>
            <a:picLocks noChangeAspect="1"/>
          </p:cNvPicPr>
          <p:nvPr/>
        </p:nvPicPr>
        <p:blipFill>
          <a:blip r:embed="rId5"/>
          <a:stretch>
            <a:fillRect/>
          </a:stretch>
        </p:blipFill>
        <p:spPr>
          <a:xfrm>
            <a:off x="795528" y="3694176"/>
            <a:ext cx="274320" cy="274320"/>
          </a:xfrm>
          <a:prstGeom prst="rect">
            <a:avLst/>
          </a:prstGeom>
        </p:spPr>
      </p:pic>
      <p:sp>
        <p:nvSpPr>
          <p:cNvPr id="22" name="Text 15"/>
          <p:cNvSpPr txBox="1"/>
          <p:nvPr/>
        </p:nvSpPr>
        <p:spPr>
          <a:xfrm>
            <a:off x="1371600" y="3401568"/>
            <a:ext cx="2971800" cy="859536"/>
          </a:xfrm>
          <a:prstGeom prst="rect">
            <a:avLst/>
          </a:prstGeom>
          <a:noFill/>
          <a:ln/>
        </p:spPr>
        <p:txBody>
          <a:bodyPr wrap="square" lIns="0" tIns="0" rIns="0" bIns="0" rtlCol="0" anchor="ctr"/>
          <a:lstStyle/>
          <a:p>
            <a:pPr indent="0" marL="0">
              <a:spcAft>
                <a:spcPts val="200"/>
              </a:spcAft>
              <a:buNone/>
            </a:pPr>
            <a:r>
              <a:rPr lang="en-US" sz="1400" b="1" dirty="0">
                <a:solidFill>
                  <a:schemeClr val="tx1"/>
                </a:solidFill>
              </a:rPr>
              <a:t>Explainable AI</a:t>
            </a:r>
            <a:endParaRPr lang="en-US" sz="1400" dirty="0"/>
          </a:p>
          <a:p>
            <a:pPr indent="0" marL="0">
              <a:spcAft>
                <a:spcPts val="200"/>
              </a:spcAft>
              <a:buNone/>
            </a:pPr>
            <a:r>
              <a:rPr lang="en-US" sz="1200" dirty="0">
                <a:solidFill>
                  <a:schemeClr val="tx2"/>
                </a:solidFill>
              </a:rPr>
              <a:t>Grad-CAM (built with tf.GradientTape)</a:t>
            </a:r>
            <a:endParaRPr lang="en-US" sz="1400" dirty="0"/>
          </a:p>
        </p:txBody>
      </p:sp>
      <p:sp>
        <p:nvSpPr>
          <p:cNvPr id="23" name="Dev &amp; Deploy card"/>
          <p:cNvSpPr/>
          <p:nvPr/>
        </p:nvSpPr>
        <p:spPr>
          <a:xfrm>
            <a:off x="4663440" y="3328416"/>
            <a:ext cx="4023360" cy="1005840"/>
          </a:xfrm>
          <a:prstGeom prst="roundRect">
            <a:avLst>
              <a:gd name="adj" fmla="val 7273"/>
            </a:avLst>
          </a:prstGeom>
          <a:solidFill>
            <a:schemeClr val="bg2"/>
          </a:solidFill>
          <a:ln/>
        </p:spPr>
      </p:sp>
      <p:sp>
        <p:nvSpPr>
          <p:cNvPr id="24" name="Dev &amp; Deploy circle"/>
          <p:cNvSpPr/>
          <p:nvPr/>
        </p:nvSpPr>
        <p:spPr>
          <a:xfrm>
            <a:off x="4864608" y="3557016"/>
            <a:ext cx="548640" cy="548640"/>
          </a:xfrm>
          <a:prstGeom prst="ellipse">
            <a:avLst/>
          </a:prstGeom>
          <a:solidFill>
            <a:schemeClr val="accent5"/>
          </a:solidFill>
          <a:ln/>
        </p:spPr>
      </p:sp>
      <p:pic>
        <p:nvPicPr>
          <p:cNvPr id="25" name="Image 5" descr="Dev &amp; Deploy">    </p:cNvPr>
          <p:cNvPicPr>
            <a:picLocks noChangeAspect="1"/>
          </p:cNvPicPr>
          <p:nvPr/>
        </p:nvPicPr>
        <p:blipFill>
          <a:blip r:embed="rId6"/>
          <a:stretch>
            <a:fillRect/>
          </a:stretch>
        </p:blipFill>
        <p:spPr>
          <a:xfrm>
            <a:off x="5001768" y="3694176"/>
            <a:ext cx="274320" cy="274320"/>
          </a:xfrm>
          <a:prstGeom prst="rect">
            <a:avLst/>
          </a:prstGeom>
        </p:spPr>
      </p:pic>
      <p:sp>
        <p:nvSpPr>
          <p:cNvPr id="26" name="Text 18"/>
          <p:cNvSpPr txBox="1"/>
          <p:nvPr/>
        </p:nvSpPr>
        <p:spPr>
          <a:xfrm>
            <a:off x="5577840" y="3401568"/>
            <a:ext cx="2971800" cy="859536"/>
          </a:xfrm>
          <a:prstGeom prst="rect">
            <a:avLst/>
          </a:prstGeom>
          <a:noFill/>
          <a:ln/>
        </p:spPr>
        <p:txBody>
          <a:bodyPr wrap="square" lIns="0" tIns="0" rIns="0" bIns="0" rtlCol="0" anchor="ctr"/>
          <a:lstStyle/>
          <a:p>
            <a:pPr indent="0" marL="0">
              <a:spcAft>
                <a:spcPts val="200"/>
              </a:spcAft>
              <a:buNone/>
            </a:pPr>
            <a:r>
              <a:rPr lang="en-US" sz="1400" b="1" dirty="0">
                <a:solidFill>
                  <a:schemeClr val="tx1"/>
                </a:solidFill>
              </a:rPr>
              <a:t>Dev &amp; Deploy</a:t>
            </a:r>
            <a:endParaRPr lang="en-US" sz="1400" dirty="0"/>
          </a:p>
          <a:p>
            <a:pPr indent="0" marL="0">
              <a:spcAft>
                <a:spcPts val="200"/>
              </a:spcAft>
              <a:buNone/>
            </a:pPr>
            <a:r>
              <a:rPr lang="en-US" sz="1200" dirty="0">
                <a:solidFill>
                  <a:schemeClr val="tx2"/>
                </a:solidFill>
              </a:rPr>
              <a:t>Google Colab (GPU), VS Code, Git/GitHub; Vercel + Hugging Face Spaces (optional)</a:t>
            </a:r>
            <a:endParaRPr lang="en-US" sz="14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600" b="1" dirty="0">
                <a:solidFill>
                  <a:schemeClr val="tx1"/>
                </a:solidFill>
              </a:rPr>
              <a:t>11 | Implementation Plan (10 Weeks)</a:t>
            </a:r>
            <a:endParaRPr lang="en-US" sz="2600" dirty="0"/>
          </a:p>
        </p:txBody>
      </p:sp>
      <p:sp>
        <p:nvSpPr>
          <p:cNvPr id="3" name="Text 1"/>
          <p:cNvSpPr txBox="1"/>
          <p:nvPr/>
        </p:nvSpPr>
        <p:spPr>
          <a:xfrm>
            <a:off x="3383280" y="1005840"/>
            <a:ext cx="530352" cy="274320"/>
          </a:xfrm>
          <a:prstGeom prst="rect">
            <a:avLst/>
          </a:prstGeom>
          <a:noFill/>
          <a:ln/>
        </p:spPr>
        <p:txBody>
          <a:bodyPr wrap="square" lIns="0" tIns="0" rIns="0" bIns="0" rtlCol="0" anchor="ctr"/>
          <a:lstStyle/>
          <a:p>
            <a:pPr algn="ctr" indent="0" marL="0">
              <a:buNone/>
            </a:pPr>
            <a:r>
              <a:rPr lang="en-US" sz="1000" b="1" dirty="0">
                <a:solidFill>
                  <a:schemeClr val="tx2"/>
                </a:solidFill>
              </a:rPr>
              <a:t>W1</a:t>
            </a:r>
            <a:endParaRPr lang="en-US" sz="1000" dirty="0"/>
          </a:p>
        </p:txBody>
      </p:sp>
      <p:sp>
        <p:nvSpPr>
          <p:cNvPr id="4" name="week band"/>
          <p:cNvSpPr/>
          <p:nvPr/>
        </p:nvSpPr>
        <p:spPr>
          <a:xfrm>
            <a:off x="3383280" y="1325880"/>
            <a:ext cx="530352" cy="2971800"/>
          </a:xfrm>
          <a:prstGeom prst="rect">
            <a:avLst/>
          </a:prstGeom>
          <a:solidFill>
            <a:schemeClr val="bg2"/>
          </a:solidFill>
          <a:ln/>
        </p:spPr>
      </p:sp>
      <p:sp>
        <p:nvSpPr>
          <p:cNvPr id="5" name="Text 3"/>
          <p:cNvSpPr txBox="1"/>
          <p:nvPr/>
        </p:nvSpPr>
        <p:spPr>
          <a:xfrm>
            <a:off x="3913632" y="1005840"/>
            <a:ext cx="530352" cy="274320"/>
          </a:xfrm>
          <a:prstGeom prst="rect">
            <a:avLst/>
          </a:prstGeom>
          <a:noFill/>
          <a:ln/>
        </p:spPr>
        <p:txBody>
          <a:bodyPr wrap="square" lIns="0" tIns="0" rIns="0" bIns="0" rtlCol="0" anchor="ctr"/>
          <a:lstStyle/>
          <a:p>
            <a:pPr algn="ctr" indent="0" marL="0">
              <a:buNone/>
            </a:pPr>
            <a:r>
              <a:rPr lang="en-US" sz="1000" b="1" dirty="0">
                <a:solidFill>
                  <a:schemeClr val="tx2"/>
                </a:solidFill>
              </a:rPr>
              <a:t>W2</a:t>
            </a:r>
            <a:endParaRPr lang="en-US" sz="1000" dirty="0"/>
          </a:p>
        </p:txBody>
      </p:sp>
      <p:sp>
        <p:nvSpPr>
          <p:cNvPr id="6" name="Text 4"/>
          <p:cNvSpPr txBox="1"/>
          <p:nvPr/>
        </p:nvSpPr>
        <p:spPr>
          <a:xfrm>
            <a:off x="4443984" y="1005840"/>
            <a:ext cx="530352" cy="274320"/>
          </a:xfrm>
          <a:prstGeom prst="rect">
            <a:avLst/>
          </a:prstGeom>
          <a:noFill/>
          <a:ln/>
        </p:spPr>
        <p:txBody>
          <a:bodyPr wrap="square" lIns="0" tIns="0" rIns="0" bIns="0" rtlCol="0" anchor="ctr"/>
          <a:lstStyle/>
          <a:p>
            <a:pPr algn="ctr" indent="0" marL="0">
              <a:buNone/>
            </a:pPr>
            <a:r>
              <a:rPr lang="en-US" sz="1000" b="1" dirty="0">
                <a:solidFill>
                  <a:schemeClr val="tx2"/>
                </a:solidFill>
              </a:rPr>
              <a:t>W3</a:t>
            </a:r>
            <a:endParaRPr lang="en-US" sz="1000" dirty="0"/>
          </a:p>
        </p:txBody>
      </p:sp>
      <p:sp>
        <p:nvSpPr>
          <p:cNvPr id="7" name="week band"/>
          <p:cNvSpPr/>
          <p:nvPr/>
        </p:nvSpPr>
        <p:spPr>
          <a:xfrm>
            <a:off x="4443984" y="1325880"/>
            <a:ext cx="530352" cy="2971800"/>
          </a:xfrm>
          <a:prstGeom prst="rect">
            <a:avLst/>
          </a:prstGeom>
          <a:solidFill>
            <a:schemeClr val="bg2"/>
          </a:solidFill>
          <a:ln/>
        </p:spPr>
      </p:sp>
      <p:sp>
        <p:nvSpPr>
          <p:cNvPr id="8" name="Text 6"/>
          <p:cNvSpPr txBox="1"/>
          <p:nvPr/>
        </p:nvSpPr>
        <p:spPr>
          <a:xfrm>
            <a:off x="4974336" y="1005840"/>
            <a:ext cx="530352" cy="274320"/>
          </a:xfrm>
          <a:prstGeom prst="rect">
            <a:avLst/>
          </a:prstGeom>
          <a:noFill/>
          <a:ln/>
        </p:spPr>
        <p:txBody>
          <a:bodyPr wrap="square" lIns="0" tIns="0" rIns="0" bIns="0" rtlCol="0" anchor="ctr"/>
          <a:lstStyle/>
          <a:p>
            <a:pPr algn="ctr" indent="0" marL="0">
              <a:buNone/>
            </a:pPr>
            <a:r>
              <a:rPr lang="en-US" sz="1000" b="1" dirty="0">
                <a:solidFill>
                  <a:schemeClr val="tx2"/>
                </a:solidFill>
              </a:rPr>
              <a:t>W4</a:t>
            </a:r>
            <a:endParaRPr lang="en-US" sz="1000" dirty="0"/>
          </a:p>
        </p:txBody>
      </p:sp>
      <p:sp>
        <p:nvSpPr>
          <p:cNvPr id="9" name="Text 7"/>
          <p:cNvSpPr txBox="1"/>
          <p:nvPr/>
        </p:nvSpPr>
        <p:spPr>
          <a:xfrm>
            <a:off x="5504688" y="1005840"/>
            <a:ext cx="530352" cy="274320"/>
          </a:xfrm>
          <a:prstGeom prst="rect">
            <a:avLst/>
          </a:prstGeom>
          <a:noFill/>
          <a:ln/>
        </p:spPr>
        <p:txBody>
          <a:bodyPr wrap="square" lIns="0" tIns="0" rIns="0" bIns="0" rtlCol="0" anchor="ctr"/>
          <a:lstStyle/>
          <a:p>
            <a:pPr algn="ctr" indent="0" marL="0">
              <a:buNone/>
            </a:pPr>
            <a:r>
              <a:rPr lang="en-US" sz="1000" b="1" dirty="0">
                <a:solidFill>
                  <a:schemeClr val="tx2"/>
                </a:solidFill>
              </a:rPr>
              <a:t>W5</a:t>
            </a:r>
            <a:endParaRPr lang="en-US" sz="1000" dirty="0"/>
          </a:p>
        </p:txBody>
      </p:sp>
      <p:sp>
        <p:nvSpPr>
          <p:cNvPr id="10" name="week band"/>
          <p:cNvSpPr/>
          <p:nvPr/>
        </p:nvSpPr>
        <p:spPr>
          <a:xfrm>
            <a:off x="5504688" y="1325880"/>
            <a:ext cx="530352" cy="2971800"/>
          </a:xfrm>
          <a:prstGeom prst="rect">
            <a:avLst/>
          </a:prstGeom>
          <a:solidFill>
            <a:schemeClr val="bg2"/>
          </a:solidFill>
          <a:ln/>
        </p:spPr>
      </p:sp>
      <p:sp>
        <p:nvSpPr>
          <p:cNvPr id="11" name="Text 9"/>
          <p:cNvSpPr txBox="1"/>
          <p:nvPr/>
        </p:nvSpPr>
        <p:spPr>
          <a:xfrm>
            <a:off x="6035040" y="1005840"/>
            <a:ext cx="530352" cy="274320"/>
          </a:xfrm>
          <a:prstGeom prst="rect">
            <a:avLst/>
          </a:prstGeom>
          <a:noFill/>
          <a:ln/>
        </p:spPr>
        <p:txBody>
          <a:bodyPr wrap="square" lIns="0" tIns="0" rIns="0" bIns="0" rtlCol="0" anchor="ctr"/>
          <a:lstStyle/>
          <a:p>
            <a:pPr algn="ctr" indent="0" marL="0">
              <a:buNone/>
            </a:pPr>
            <a:r>
              <a:rPr lang="en-US" sz="1000" b="1" dirty="0">
                <a:solidFill>
                  <a:schemeClr val="tx2"/>
                </a:solidFill>
              </a:rPr>
              <a:t>W6</a:t>
            </a:r>
            <a:endParaRPr lang="en-US" sz="1000" dirty="0"/>
          </a:p>
        </p:txBody>
      </p:sp>
      <p:sp>
        <p:nvSpPr>
          <p:cNvPr id="12" name="Text 10"/>
          <p:cNvSpPr txBox="1"/>
          <p:nvPr/>
        </p:nvSpPr>
        <p:spPr>
          <a:xfrm>
            <a:off x="6565392" y="1005840"/>
            <a:ext cx="530352" cy="274320"/>
          </a:xfrm>
          <a:prstGeom prst="rect">
            <a:avLst/>
          </a:prstGeom>
          <a:noFill/>
          <a:ln/>
        </p:spPr>
        <p:txBody>
          <a:bodyPr wrap="square" lIns="0" tIns="0" rIns="0" bIns="0" rtlCol="0" anchor="ctr"/>
          <a:lstStyle/>
          <a:p>
            <a:pPr algn="ctr" indent="0" marL="0">
              <a:buNone/>
            </a:pPr>
            <a:r>
              <a:rPr lang="en-US" sz="1000" b="1" dirty="0">
                <a:solidFill>
                  <a:schemeClr val="tx2"/>
                </a:solidFill>
              </a:rPr>
              <a:t>W7</a:t>
            </a:r>
            <a:endParaRPr lang="en-US" sz="1000" dirty="0"/>
          </a:p>
        </p:txBody>
      </p:sp>
      <p:sp>
        <p:nvSpPr>
          <p:cNvPr id="13" name="week band"/>
          <p:cNvSpPr/>
          <p:nvPr/>
        </p:nvSpPr>
        <p:spPr>
          <a:xfrm>
            <a:off x="6565392" y="1325880"/>
            <a:ext cx="530352" cy="2971800"/>
          </a:xfrm>
          <a:prstGeom prst="rect">
            <a:avLst/>
          </a:prstGeom>
          <a:solidFill>
            <a:schemeClr val="bg2"/>
          </a:solidFill>
          <a:ln/>
        </p:spPr>
      </p:sp>
      <p:sp>
        <p:nvSpPr>
          <p:cNvPr id="14" name="Text 12"/>
          <p:cNvSpPr txBox="1"/>
          <p:nvPr/>
        </p:nvSpPr>
        <p:spPr>
          <a:xfrm>
            <a:off x="7095744" y="1005840"/>
            <a:ext cx="530352" cy="274320"/>
          </a:xfrm>
          <a:prstGeom prst="rect">
            <a:avLst/>
          </a:prstGeom>
          <a:noFill/>
          <a:ln/>
        </p:spPr>
        <p:txBody>
          <a:bodyPr wrap="square" lIns="0" tIns="0" rIns="0" bIns="0" rtlCol="0" anchor="ctr"/>
          <a:lstStyle/>
          <a:p>
            <a:pPr algn="ctr" indent="0" marL="0">
              <a:buNone/>
            </a:pPr>
            <a:r>
              <a:rPr lang="en-US" sz="1000" b="1" dirty="0">
                <a:solidFill>
                  <a:schemeClr val="tx2"/>
                </a:solidFill>
              </a:rPr>
              <a:t>W8</a:t>
            </a:r>
            <a:endParaRPr lang="en-US" sz="1000" dirty="0"/>
          </a:p>
        </p:txBody>
      </p:sp>
      <p:sp>
        <p:nvSpPr>
          <p:cNvPr id="15" name="Text 13"/>
          <p:cNvSpPr txBox="1"/>
          <p:nvPr/>
        </p:nvSpPr>
        <p:spPr>
          <a:xfrm>
            <a:off x="7626096" y="1005840"/>
            <a:ext cx="530352" cy="274320"/>
          </a:xfrm>
          <a:prstGeom prst="rect">
            <a:avLst/>
          </a:prstGeom>
          <a:noFill/>
          <a:ln/>
        </p:spPr>
        <p:txBody>
          <a:bodyPr wrap="square" lIns="0" tIns="0" rIns="0" bIns="0" rtlCol="0" anchor="ctr"/>
          <a:lstStyle/>
          <a:p>
            <a:pPr algn="ctr" indent="0" marL="0">
              <a:buNone/>
            </a:pPr>
            <a:r>
              <a:rPr lang="en-US" sz="1000" b="1" dirty="0">
                <a:solidFill>
                  <a:schemeClr val="tx2"/>
                </a:solidFill>
              </a:rPr>
              <a:t>W9</a:t>
            </a:r>
            <a:endParaRPr lang="en-US" sz="1000" dirty="0"/>
          </a:p>
        </p:txBody>
      </p:sp>
      <p:sp>
        <p:nvSpPr>
          <p:cNvPr id="16" name="week band"/>
          <p:cNvSpPr/>
          <p:nvPr/>
        </p:nvSpPr>
        <p:spPr>
          <a:xfrm>
            <a:off x="7626096" y="1325880"/>
            <a:ext cx="530352" cy="2971800"/>
          </a:xfrm>
          <a:prstGeom prst="rect">
            <a:avLst/>
          </a:prstGeom>
          <a:solidFill>
            <a:schemeClr val="bg2"/>
          </a:solidFill>
          <a:ln/>
        </p:spPr>
      </p:sp>
      <p:sp>
        <p:nvSpPr>
          <p:cNvPr id="17" name="Text 15"/>
          <p:cNvSpPr txBox="1"/>
          <p:nvPr/>
        </p:nvSpPr>
        <p:spPr>
          <a:xfrm>
            <a:off x="8156448" y="1005840"/>
            <a:ext cx="530352" cy="274320"/>
          </a:xfrm>
          <a:prstGeom prst="rect">
            <a:avLst/>
          </a:prstGeom>
          <a:noFill/>
          <a:ln/>
        </p:spPr>
        <p:txBody>
          <a:bodyPr wrap="square" lIns="0" tIns="0" rIns="0" bIns="0" rtlCol="0" anchor="ctr"/>
          <a:lstStyle/>
          <a:p>
            <a:pPr algn="ctr" indent="0" marL="0">
              <a:buNone/>
            </a:pPr>
            <a:r>
              <a:rPr lang="en-US" sz="1000" b="1" dirty="0">
                <a:solidFill>
                  <a:schemeClr val="tx2"/>
                </a:solidFill>
              </a:rPr>
              <a:t>W10</a:t>
            </a:r>
            <a:endParaRPr lang="en-US" sz="1000" dirty="0"/>
          </a:p>
        </p:txBody>
      </p:sp>
      <p:sp>
        <p:nvSpPr>
          <p:cNvPr id="18" name="Text 16"/>
          <p:cNvSpPr txBox="1"/>
          <p:nvPr/>
        </p:nvSpPr>
        <p:spPr>
          <a:xfrm>
            <a:off x="457200" y="1417320"/>
            <a:ext cx="2834640" cy="320040"/>
          </a:xfrm>
          <a:prstGeom prst="rect">
            <a:avLst/>
          </a:prstGeom>
          <a:noFill/>
          <a:ln/>
        </p:spPr>
        <p:txBody>
          <a:bodyPr wrap="square" lIns="0" tIns="0" rIns="0" bIns="0" rtlCol="0" anchor="ctr"/>
          <a:lstStyle/>
          <a:p>
            <a:pPr indent="0" marL="0">
              <a:buNone/>
            </a:pPr>
            <a:r>
              <a:rPr lang="en-US" sz="1200" dirty="0">
                <a:solidFill>
                  <a:schemeClr val="tx1"/>
                </a:solidFill>
              </a:rPr>
              <a:t>Data setup + baseline CNN</a:t>
            </a:r>
            <a:endParaRPr lang="en-US" sz="1200" dirty="0"/>
          </a:p>
        </p:txBody>
      </p:sp>
      <p:sp>
        <p:nvSpPr>
          <p:cNvPr id="19" name="task bar"/>
          <p:cNvSpPr/>
          <p:nvPr/>
        </p:nvSpPr>
        <p:spPr>
          <a:xfrm>
            <a:off x="3419856" y="1463040"/>
            <a:ext cx="987552" cy="228600"/>
          </a:xfrm>
          <a:prstGeom prst="roundRect">
            <a:avLst>
              <a:gd name="adj" fmla="val 24000"/>
            </a:avLst>
          </a:prstGeom>
          <a:solidFill>
            <a:schemeClr val="accent1"/>
          </a:solidFill>
          <a:ln/>
        </p:spPr>
      </p:sp>
      <p:sp>
        <p:nvSpPr>
          <p:cNvPr id="20" name="Text 18"/>
          <p:cNvSpPr txBox="1"/>
          <p:nvPr/>
        </p:nvSpPr>
        <p:spPr>
          <a:xfrm>
            <a:off x="457200" y="1828800"/>
            <a:ext cx="2834640" cy="320040"/>
          </a:xfrm>
          <a:prstGeom prst="rect">
            <a:avLst/>
          </a:prstGeom>
          <a:noFill/>
          <a:ln/>
        </p:spPr>
        <p:txBody>
          <a:bodyPr wrap="square" lIns="0" tIns="0" rIns="0" bIns="0" rtlCol="0" anchor="ctr"/>
          <a:lstStyle/>
          <a:p>
            <a:pPr indent="0" marL="0">
              <a:buNone/>
            </a:pPr>
            <a:r>
              <a:rPr lang="en-US" sz="1200" dirty="0">
                <a:solidFill>
                  <a:schemeClr val="tx1"/>
                </a:solidFill>
              </a:rPr>
              <a:t>Transfer learning + breed model</a:t>
            </a:r>
            <a:endParaRPr lang="en-US" sz="1200" dirty="0"/>
          </a:p>
        </p:txBody>
      </p:sp>
      <p:sp>
        <p:nvSpPr>
          <p:cNvPr id="21" name="task bar"/>
          <p:cNvSpPr/>
          <p:nvPr/>
        </p:nvSpPr>
        <p:spPr>
          <a:xfrm>
            <a:off x="4480560" y="1874520"/>
            <a:ext cx="987552" cy="228600"/>
          </a:xfrm>
          <a:prstGeom prst="roundRect">
            <a:avLst>
              <a:gd name="adj" fmla="val 24000"/>
            </a:avLst>
          </a:prstGeom>
          <a:solidFill>
            <a:schemeClr val="accent1"/>
          </a:solidFill>
          <a:ln/>
        </p:spPr>
      </p:sp>
      <p:sp>
        <p:nvSpPr>
          <p:cNvPr id="22" name="Text 20"/>
          <p:cNvSpPr txBox="1"/>
          <p:nvPr/>
        </p:nvSpPr>
        <p:spPr>
          <a:xfrm>
            <a:off x="457200" y="2240280"/>
            <a:ext cx="2834640" cy="320040"/>
          </a:xfrm>
          <a:prstGeom prst="rect">
            <a:avLst/>
          </a:prstGeom>
          <a:noFill/>
          <a:ln/>
        </p:spPr>
        <p:txBody>
          <a:bodyPr wrap="square" lIns="0" tIns="0" rIns="0" bIns="0" rtlCol="0" anchor="ctr"/>
          <a:lstStyle/>
          <a:p>
            <a:pPr indent="0" marL="0">
              <a:buNone/>
            </a:pPr>
            <a:r>
              <a:rPr lang="en-US" sz="1200" dirty="0">
                <a:solidFill>
                  <a:schemeClr val="tx1"/>
                </a:solidFill>
              </a:rPr>
              <a:t>Pet Gate + Grad-CAM</a:t>
            </a:r>
            <a:endParaRPr lang="en-US" sz="1200" dirty="0"/>
          </a:p>
        </p:txBody>
      </p:sp>
      <p:sp>
        <p:nvSpPr>
          <p:cNvPr id="23" name="task bar"/>
          <p:cNvSpPr/>
          <p:nvPr/>
        </p:nvSpPr>
        <p:spPr>
          <a:xfrm>
            <a:off x="5541264" y="2286000"/>
            <a:ext cx="457200" cy="228600"/>
          </a:xfrm>
          <a:prstGeom prst="roundRect">
            <a:avLst>
              <a:gd name="adj" fmla="val 24000"/>
            </a:avLst>
          </a:prstGeom>
          <a:solidFill>
            <a:schemeClr val="accent3"/>
          </a:solidFill>
          <a:ln/>
        </p:spPr>
      </p:sp>
      <p:sp>
        <p:nvSpPr>
          <p:cNvPr id="24" name="Text 22"/>
          <p:cNvSpPr txBox="1"/>
          <p:nvPr/>
        </p:nvSpPr>
        <p:spPr>
          <a:xfrm>
            <a:off x="457200" y="2651760"/>
            <a:ext cx="2834640" cy="320040"/>
          </a:xfrm>
          <a:prstGeom prst="rect">
            <a:avLst/>
          </a:prstGeom>
          <a:noFill/>
          <a:ln/>
        </p:spPr>
        <p:txBody>
          <a:bodyPr wrap="square" lIns="0" tIns="0" rIns="0" bIns="0" rtlCol="0" anchor="ctr"/>
          <a:lstStyle/>
          <a:p>
            <a:pPr indent="0" marL="0">
              <a:buNone/>
            </a:pPr>
            <a:r>
              <a:rPr lang="en-US" sz="1200" dirty="0">
                <a:solidFill>
                  <a:schemeClr val="tx1"/>
                </a:solidFill>
              </a:rPr>
              <a:t>Backend API (FastAPI)</a:t>
            </a:r>
            <a:endParaRPr lang="en-US" sz="1200" dirty="0"/>
          </a:p>
        </p:txBody>
      </p:sp>
      <p:sp>
        <p:nvSpPr>
          <p:cNvPr id="25" name="task bar"/>
          <p:cNvSpPr/>
          <p:nvPr/>
        </p:nvSpPr>
        <p:spPr>
          <a:xfrm>
            <a:off x="5541264" y="2697480"/>
            <a:ext cx="987552" cy="228600"/>
          </a:xfrm>
          <a:prstGeom prst="roundRect">
            <a:avLst>
              <a:gd name="adj" fmla="val 24000"/>
            </a:avLst>
          </a:prstGeom>
          <a:solidFill>
            <a:schemeClr val="accent3"/>
          </a:solidFill>
          <a:ln/>
        </p:spPr>
      </p:sp>
      <p:sp>
        <p:nvSpPr>
          <p:cNvPr id="26" name="Text 24"/>
          <p:cNvSpPr txBox="1"/>
          <p:nvPr/>
        </p:nvSpPr>
        <p:spPr>
          <a:xfrm>
            <a:off x="457200" y="3063240"/>
            <a:ext cx="2834640" cy="320040"/>
          </a:xfrm>
          <a:prstGeom prst="rect">
            <a:avLst/>
          </a:prstGeom>
          <a:noFill/>
          <a:ln/>
        </p:spPr>
        <p:txBody>
          <a:bodyPr wrap="square" lIns="0" tIns="0" rIns="0" bIns="0" rtlCol="0" anchor="ctr"/>
          <a:lstStyle/>
          <a:p>
            <a:pPr indent="0" marL="0">
              <a:buNone/>
            </a:pPr>
            <a:r>
              <a:rPr lang="en-US" sz="1200" dirty="0">
                <a:solidFill>
                  <a:schemeClr val="tx1"/>
                </a:solidFill>
              </a:rPr>
              <a:t>Web app: Classify + Batch</a:t>
            </a:r>
            <a:endParaRPr lang="en-US" sz="1200" dirty="0"/>
          </a:p>
        </p:txBody>
      </p:sp>
      <p:sp>
        <p:nvSpPr>
          <p:cNvPr id="27" name="task bar"/>
          <p:cNvSpPr/>
          <p:nvPr/>
        </p:nvSpPr>
        <p:spPr>
          <a:xfrm>
            <a:off x="6071616" y="3108960"/>
            <a:ext cx="987552" cy="228600"/>
          </a:xfrm>
          <a:prstGeom prst="roundRect">
            <a:avLst>
              <a:gd name="adj" fmla="val 24000"/>
            </a:avLst>
          </a:prstGeom>
          <a:solidFill>
            <a:schemeClr val="accent2"/>
          </a:solidFill>
          <a:ln/>
        </p:spPr>
      </p:sp>
      <p:sp>
        <p:nvSpPr>
          <p:cNvPr id="28" name="Text 26"/>
          <p:cNvSpPr txBox="1"/>
          <p:nvPr/>
        </p:nvSpPr>
        <p:spPr>
          <a:xfrm>
            <a:off x="457200" y="3474720"/>
            <a:ext cx="2834640" cy="320040"/>
          </a:xfrm>
          <a:prstGeom prst="rect">
            <a:avLst/>
          </a:prstGeom>
          <a:noFill/>
          <a:ln/>
        </p:spPr>
        <p:txBody>
          <a:bodyPr wrap="square" lIns="0" tIns="0" rIns="0" bIns="0" rtlCol="0" anchor="ctr"/>
          <a:lstStyle/>
          <a:p>
            <a:pPr indent="0" marL="0">
              <a:buNone/>
            </a:pPr>
            <a:r>
              <a:rPr lang="en-US" sz="1200" dirty="0">
                <a:solidFill>
                  <a:schemeClr val="tx1"/>
                </a:solidFill>
              </a:rPr>
              <a:t>Camera, Stress Lab, Model Lab</a:t>
            </a:r>
            <a:endParaRPr lang="en-US" sz="1200" dirty="0"/>
          </a:p>
        </p:txBody>
      </p:sp>
      <p:sp>
        <p:nvSpPr>
          <p:cNvPr id="29" name="task bar"/>
          <p:cNvSpPr/>
          <p:nvPr/>
        </p:nvSpPr>
        <p:spPr>
          <a:xfrm>
            <a:off x="7132320" y="3520440"/>
            <a:ext cx="457200" cy="228600"/>
          </a:xfrm>
          <a:prstGeom prst="roundRect">
            <a:avLst>
              <a:gd name="adj" fmla="val 24000"/>
            </a:avLst>
          </a:prstGeom>
          <a:solidFill>
            <a:schemeClr val="accent2"/>
          </a:solidFill>
          <a:ln/>
        </p:spPr>
      </p:sp>
      <p:sp>
        <p:nvSpPr>
          <p:cNvPr id="30" name="Text 28"/>
          <p:cNvSpPr txBox="1"/>
          <p:nvPr/>
        </p:nvSpPr>
        <p:spPr>
          <a:xfrm>
            <a:off x="457200" y="3886200"/>
            <a:ext cx="2834640" cy="320040"/>
          </a:xfrm>
          <a:prstGeom prst="rect">
            <a:avLst/>
          </a:prstGeom>
          <a:noFill/>
          <a:ln/>
        </p:spPr>
        <p:txBody>
          <a:bodyPr wrap="square" lIns="0" tIns="0" rIns="0" bIns="0" rtlCol="0" anchor="ctr"/>
          <a:lstStyle/>
          <a:p>
            <a:pPr indent="0" marL="0">
              <a:buNone/>
            </a:pPr>
            <a:r>
              <a:rPr lang="en-US" sz="1200" dirty="0">
                <a:solidFill>
                  <a:schemeClr val="tx1"/>
                </a:solidFill>
              </a:rPr>
              <a:t>Testing, report, deployment</a:t>
            </a:r>
            <a:endParaRPr lang="en-US" sz="1200" dirty="0"/>
          </a:p>
        </p:txBody>
      </p:sp>
      <p:sp>
        <p:nvSpPr>
          <p:cNvPr id="31" name="task bar"/>
          <p:cNvSpPr/>
          <p:nvPr/>
        </p:nvSpPr>
        <p:spPr>
          <a:xfrm>
            <a:off x="7662672" y="3931920"/>
            <a:ext cx="987552" cy="228600"/>
          </a:xfrm>
          <a:prstGeom prst="roundRect">
            <a:avLst>
              <a:gd name="adj" fmla="val 24000"/>
            </a:avLst>
          </a:prstGeom>
          <a:solidFill>
            <a:schemeClr val="accent6"/>
          </a:solidFill>
          <a:ln/>
        </p:spPr>
      </p:sp>
      <p:sp>
        <p:nvSpPr>
          <p:cNvPr id="32" name="Text 30"/>
          <p:cNvSpPr txBox="1"/>
          <p:nvPr/>
        </p:nvSpPr>
        <p:spPr>
          <a:xfrm>
            <a:off x="457200" y="4343400"/>
            <a:ext cx="8229600" cy="274320"/>
          </a:xfrm>
          <a:prstGeom prst="rect">
            <a:avLst/>
          </a:prstGeom>
          <a:noFill/>
          <a:ln/>
        </p:spPr>
        <p:txBody>
          <a:bodyPr wrap="square" lIns="0" tIns="0" rIns="0" bIns="0" rtlCol="0" anchor="ctr"/>
          <a:lstStyle/>
          <a:p>
            <a:pPr indent="0" marL="0">
              <a:buNone/>
            </a:pPr>
            <a:r>
              <a:rPr lang="en-US" sz="1100" i="1" dirty="0">
                <a:solidFill>
                  <a:schemeClr val="tx2"/>
                </a:solidFill>
              </a:rPr>
              <a:t>Must-have first (models, Grad-CAM, Classify, Batch, Model Lab). Camera and Stress Lab only after these work.</a:t>
            </a:r>
            <a:endParaRPr lang="en-US" sz="11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600" b="1" dirty="0">
                <a:solidFill>
                  <a:schemeClr val="tx1"/>
                </a:solidFill>
              </a:rPr>
              <a:t>12 | Expected Outcome &amp; Future Scope</a:t>
            </a:r>
            <a:endParaRPr lang="en-US" sz="2600" dirty="0"/>
          </a:p>
        </p:txBody>
      </p:sp>
      <p:sp>
        <p:nvSpPr>
          <p:cNvPr id="3" name="Expected Outcome card"/>
          <p:cNvSpPr/>
          <p:nvPr/>
        </p:nvSpPr>
        <p:spPr>
          <a:xfrm>
            <a:off x="457200" y="1005840"/>
            <a:ext cx="2606040" cy="2926080"/>
          </a:xfrm>
          <a:prstGeom prst="roundRect">
            <a:avLst>
              <a:gd name="adj" fmla="val 2807"/>
            </a:avLst>
          </a:prstGeom>
          <a:solidFill>
            <a:schemeClr val="bg2"/>
          </a:solidFill>
          <a:ln/>
        </p:spPr>
      </p:sp>
      <p:sp>
        <p:nvSpPr>
          <p:cNvPr id="4" name="Expected Outcome circle"/>
          <p:cNvSpPr/>
          <p:nvPr/>
        </p:nvSpPr>
        <p:spPr>
          <a:xfrm>
            <a:off x="640080" y="1188720"/>
            <a:ext cx="457200" cy="457200"/>
          </a:xfrm>
          <a:prstGeom prst="ellipse">
            <a:avLst/>
          </a:prstGeom>
          <a:solidFill>
            <a:schemeClr val="accent2"/>
          </a:solidFill>
          <a:ln/>
        </p:spPr>
      </p:sp>
      <p:pic>
        <p:nvPicPr>
          <p:cNvPr id="5" name="Image 0" descr="Expected Outcome">    </p:cNvPr>
          <p:cNvPicPr>
            <a:picLocks noChangeAspect="1"/>
          </p:cNvPicPr>
          <p:nvPr/>
        </p:nvPicPr>
        <p:blipFill>
          <a:blip r:embed="rId1"/>
          <a:stretch>
            <a:fillRect/>
          </a:stretch>
        </p:blipFill>
        <p:spPr>
          <a:xfrm>
            <a:off x="754380" y="1303020"/>
            <a:ext cx="228600" cy="228600"/>
          </a:xfrm>
          <a:prstGeom prst="rect">
            <a:avLst/>
          </a:prstGeom>
        </p:spPr>
      </p:pic>
      <p:sp>
        <p:nvSpPr>
          <p:cNvPr id="6" name="Text 3"/>
          <p:cNvSpPr txBox="1"/>
          <p:nvPr/>
        </p:nvSpPr>
        <p:spPr>
          <a:xfrm>
            <a:off x="1188720" y="1188720"/>
            <a:ext cx="1783080" cy="457200"/>
          </a:xfrm>
          <a:prstGeom prst="rect">
            <a:avLst/>
          </a:prstGeom>
          <a:noFill/>
          <a:ln/>
        </p:spPr>
        <p:txBody>
          <a:bodyPr wrap="square" lIns="0" tIns="0" rIns="0" bIns="0" rtlCol="0" anchor="ctr"/>
          <a:lstStyle/>
          <a:p>
            <a:pPr indent="0" marL="0">
              <a:buNone/>
            </a:pPr>
            <a:r>
              <a:rPr lang="en-US" sz="1400" b="1" dirty="0">
                <a:solidFill>
                  <a:schemeClr val="tx1"/>
                </a:solidFill>
              </a:rPr>
              <a:t>Expected Outcome</a:t>
            </a:r>
            <a:endParaRPr lang="en-US" sz="1400" dirty="0"/>
          </a:p>
        </p:txBody>
      </p:sp>
      <p:sp>
        <p:nvSpPr>
          <p:cNvPr id="7" name="Text 4"/>
          <p:cNvSpPr txBox="1"/>
          <p:nvPr/>
        </p:nvSpPr>
        <p:spPr>
          <a:xfrm>
            <a:off x="640080" y="1783080"/>
            <a:ext cx="2286000" cy="2057400"/>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chemeClr val="tx2"/>
                </a:solidFill>
              </a:rPr>
              <a:t>Working web app with 6 modules</a:t>
            </a:r>
            <a:endParaRPr lang="en-US" sz="1200" dirty="0"/>
          </a:p>
          <a:p>
            <a:pPr marL="152400" indent="-152400">
              <a:spcAft>
                <a:spcPts val="500"/>
              </a:spcAft>
              <a:buSzPct val="100000"/>
              <a:buChar char="•"/>
            </a:pPr>
            <a:r>
              <a:rPr lang="en-US" sz="1200" dirty="0">
                <a:solidFill>
                  <a:schemeClr val="tx2"/>
                </a:solidFill>
              </a:rPr>
              <a:t>Best model ≥ 95% accuracy (cat vs dog)</a:t>
            </a:r>
            <a:endParaRPr lang="en-US" sz="1200" dirty="0"/>
          </a:p>
          <a:p>
            <a:pPr marL="152400" indent="-152400">
              <a:spcAft>
                <a:spcPts val="500"/>
              </a:spcAft>
              <a:buSzPct val="100000"/>
              <a:buChar char="•"/>
            </a:pPr>
            <a:r>
              <a:rPr lang="en-US" sz="1200" dirty="0">
                <a:solidFill>
                  <a:schemeClr val="tx2"/>
                </a:solidFill>
              </a:rPr>
              <a:t>Breed top-3 accuracy ≥ 95%</a:t>
            </a:r>
            <a:endParaRPr lang="en-US" sz="1200" dirty="0"/>
          </a:p>
          <a:p>
            <a:pPr marL="152400" indent="-152400">
              <a:spcAft>
                <a:spcPts val="500"/>
              </a:spcAft>
              <a:buSzPct val="100000"/>
              <a:buChar char="•"/>
            </a:pPr>
            <a:r>
              <a:rPr lang="en-US" sz="1200" dirty="0">
                <a:solidFill>
                  <a:schemeClr val="tx2"/>
                </a:solidFill>
              </a:rPr>
              <a:t>Heatmap for every prediction</a:t>
            </a:r>
            <a:endParaRPr lang="en-US" sz="1200" dirty="0"/>
          </a:p>
          <a:p>
            <a:pPr marL="152400" indent="-152400">
              <a:spcAft>
                <a:spcPts val="500"/>
              </a:spcAft>
              <a:buSzPct val="100000"/>
              <a:buChar char="•"/>
            </a:pPr>
            <a:r>
              <a:rPr lang="en-US" sz="1200" dirty="0">
                <a:solidFill>
                  <a:schemeClr val="tx2"/>
                </a:solidFill>
              </a:rPr>
              <a:t>CNN vs transfer learning report</a:t>
            </a:r>
            <a:endParaRPr lang="en-US" sz="1200" dirty="0"/>
          </a:p>
        </p:txBody>
      </p:sp>
      <p:sp>
        <p:nvSpPr>
          <p:cNvPr id="8" name="How We Will Measure card"/>
          <p:cNvSpPr/>
          <p:nvPr/>
        </p:nvSpPr>
        <p:spPr>
          <a:xfrm>
            <a:off x="3268980" y="1005840"/>
            <a:ext cx="2606040" cy="2926080"/>
          </a:xfrm>
          <a:prstGeom prst="roundRect">
            <a:avLst>
              <a:gd name="adj" fmla="val 2807"/>
            </a:avLst>
          </a:prstGeom>
          <a:solidFill>
            <a:schemeClr val="bg2"/>
          </a:solidFill>
          <a:ln/>
        </p:spPr>
      </p:sp>
      <p:sp>
        <p:nvSpPr>
          <p:cNvPr id="9" name="How We Will Measure circle"/>
          <p:cNvSpPr/>
          <p:nvPr/>
        </p:nvSpPr>
        <p:spPr>
          <a:xfrm>
            <a:off x="3451860" y="1188720"/>
            <a:ext cx="457200" cy="457200"/>
          </a:xfrm>
          <a:prstGeom prst="ellipse">
            <a:avLst/>
          </a:prstGeom>
          <a:solidFill>
            <a:schemeClr val="accent1"/>
          </a:solidFill>
          <a:ln/>
        </p:spPr>
      </p:sp>
      <p:pic>
        <p:nvPicPr>
          <p:cNvPr id="10" name="Image 1" descr="How We Will Measure">    </p:cNvPr>
          <p:cNvPicPr>
            <a:picLocks noChangeAspect="1"/>
          </p:cNvPicPr>
          <p:nvPr/>
        </p:nvPicPr>
        <p:blipFill>
          <a:blip r:embed="rId2"/>
          <a:stretch>
            <a:fillRect/>
          </a:stretch>
        </p:blipFill>
        <p:spPr>
          <a:xfrm>
            <a:off x="3566160" y="1303020"/>
            <a:ext cx="228600" cy="228600"/>
          </a:xfrm>
          <a:prstGeom prst="rect">
            <a:avLst/>
          </a:prstGeom>
        </p:spPr>
      </p:pic>
      <p:sp>
        <p:nvSpPr>
          <p:cNvPr id="11" name="Text 7"/>
          <p:cNvSpPr txBox="1"/>
          <p:nvPr/>
        </p:nvSpPr>
        <p:spPr>
          <a:xfrm>
            <a:off x="4000500" y="1188720"/>
            <a:ext cx="1783080" cy="457200"/>
          </a:xfrm>
          <a:prstGeom prst="rect">
            <a:avLst/>
          </a:prstGeom>
          <a:noFill/>
          <a:ln/>
        </p:spPr>
        <p:txBody>
          <a:bodyPr wrap="square" lIns="0" tIns="0" rIns="0" bIns="0" rtlCol="0" anchor="ctr"/>
          <a:lstStyle/>
          <a:p>
            <a:pPr indent="0" marL="0">
              <a:buNone/>
            </a:pPr>
            <a:r>
              <a:rPr lang="en-US" sz="1400" b="1" dirty="0">
                <a:solidFill>
                  <a:schemeClr val="tx1"/>
                </a:solidFill>
              </a:rPr>
              <a:t>How We Will Measure</a:t>
            </a:r>
            <a:endParaRPr lang="en-US" sz="1400" dirty="0"/>
          </a:p>
        </p:txBody>
      </p:sp>
      <p:sp>
        <p:nvSpPr>
          <p:cNvPr id="12" name="Text 8"/>
          <p:cNvSpPr txBox="1"/>
          <p:nvPr/>
        </p:nvSpPr>
        <p:spPr>
          <a:xfrm>
            <a:off x="3451860" y="1783080"/>
            <a:ext cx="2286000" cy="2057400"/>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chemeClr val="tx2"/>
                </a:solidFill>
              </a:rPr>
              <a:t>Accuracy, precision, recall, F1</a:t>
            </a:r>
            <a:endParaRPr lang="en-US" sz="1200" dirty="0"/>
          </a:p>
          <a:p>
            <a:pPr marL="152400" indent="-152400">
              <a:spcAft>
                <a:spcPts val="500"/>
              </a:spcAft>
              <a:buSzPct val="100000"/>
              <a:buChar char="•"/>
            </a:pPr>
            <a:r>
              <a:rPr lang="en-US" sz="1200" dirty="0">
                <a:solidFill>
                  <a:schemeClr val="tx2"/>
                </a:solidFill>
              </a:rPr>
              <a:t>Confusion matrix</a:t>
            </a:r>
            <a:endParaRPr lang="en-US" sz="1200" dirty="0"/>
          </a:p>
          <a:p>
            <a:pPr marL="152400" indent="-152400">
              <a:spcAft>
                <a:spcPts val="500"/>
              </a:spcAft>
              <a:buSzPct val="100000"/>
              <a:buChar char="•"/>
            </a:pPr>
            <a:r>
              <a:rPr lang="en-US" sz="1200" dirty="0">
                <a:solidFill>
                  <a:schemeClr val="tx2"/>
                </a:solidFill>
              </a:rPr>
              <a:t>Non-pet rejection rate</a:t>
            </a:r>
            <a:endParaRPr lang="en-US" sz="1200" dirty="0"/>
          </a:p>
          <a:p>
            <a:pPr marL="152400" indent="-152400">
              <a:spcAft>
                <a:spcPts val="500"/>
              </a:spcAft>
              <a:buSzPct val="100000"/>
              <a:buChar char="•"/>
            </a:pPr>
            <a:r>
              <a:rPr lang="en-US" sz="1200" dirty="0">
                <a:solidFill>
                  <a:schemeClr val="tx2"/>
                </a:solidFill>
              </a:rPr>
              <a:t>Robustness score (0–100)</a:t>
            </a:r>
            <a:endParaRPr lang="en-US" sz="1200" dirty="0"/>
          </a:p>
          <a:p>
            <a:pPr marL="152400" indent="-152400">
              <a:spcAft>
                <a:spcPts val="500"/>
              </a:spcAft>
              <a:buSzPct val="100000"/>
              <a:buChar char="•"/>
            </a:pPr>
            <a:r>
              <a:rPr lang="en-US" sz="1200" dirty="0">
                <a:solidFill>
                  <a:schemeClr val="tx2"/>
                </a:solidFill>
              </a:rPr>
              <a:t>Response time &lt; 1 s per image</a:t>
            </a:r>
            <a:endParaRPr lang="en-US" sz="1200" dirty="0"/>
          </a:p>
        </p:txBody>
      </p:sp>
      <p:sp>
        <p:nvSpPr>
          <p:cNvPr id="13" name="Future Scope card"/>
          <p:cNvSpPr/>
          <p:nvPr/>
        </p:nvSpPr>
        <p:spPr>
          <a:xfrm>
            <a:off x="6080760" y="1005840"/>
            <a:ext cx="2606040" cy="2926080"/>
          </a:xfrm>
          <a:prstGeom prst="roundRect">
            <a:avLst>
              <a:gd name="adj" fmla="val 2807"/>
            </a:avLst>
          </a:prstGeom>
          <a:solidFill>
            <a:schemeClr val="bg2"/>
          </a:solidFill>
          <a:ln/>
        </p:spPr>
      </p:sp>
      <p:sp>
        <p:nvSpPr>
          <p:cNvPr id="14" name="Future Scope circle"/>
          <p:cNvSpPr/>
          <p:nvPr/>
        </p:nvSpPr>
        <p:spPr>
          <a:xfrm>
            <a:off x="6263640" y="1188720"/>
            <a:ext cx="457200" cy="457200"/>
          </a:xfrm>
          <a:prstGeom prst="ellipse">
            <a:avLst/>
          </a:prstGeom>
          <a:solidFill>
            <a:schemeClr val="accent3"/>
          </a:solidFill>
          <a:ln/>
        </p:spPr>
      </p:sp>
      <p:pic>
        <p:nvPicPr>
          <p:cNvPr id="15" name="Image 2" descr="Future Scope">    </p:cNvPr>
          <p:cNvPicPr>
            <a:picLocks noChangeAspect="1"/>
          </p:cNvPicPr>
          <p:nvPr/>
        </p:nvPicPr>
        <p:blipFill>
          <a:blip r:embed="rId3"/>
          <a:stretch>
            <a:fillRect/>
          </a:stretch>
        </p:blipFill>
        <p:spPr>
          <a:xfrm>
            <a:off x="6377940" y="1303020"/>
            <a:ext cx="228600" cy="228600"/>
          </a:xfrm>
          <a:prstGeom prst="rect">
            <a:avLst/>
          </a:prstGeom>
        </p:spPr>
      </p:pic>
      <p:sp>
        <p:nvSpPr>
          <p:cNvPr id="16" name="Text 11"/>
          <p:cNvSpPr txBox="1"/>
          <p:nvPr/>
        </p:nvSpPr>
        <p:spPr>
          <a:xfrm>
            <a:off x="6812280" y="1188720"/>
            <a:ext cx="1783080" cy="457200"/>
          </a:xfrm>
          <a:prstGeom prst="rect">
            <a:avLst/>
          </a:prstGeom>
          <a:noFill/>
          <a:ln/>
        </p:spPr>
        <p:txBody>
          <a:bodyPr wrap="square" lIns="0" tIns="0" rIns="0" bIns="0" rtlCol="0" anchor="ctr"/>
          <a:lstStyle/>
          <a:p>
            <a:pPr indent="0" marL="0">
              <a:buNone/>
            </a:pPr>
            <a:r>
              <a:rPr lang="en-US" sz="1400" b="1" dirty="0">
                <a:solidFill>
                  <a:schemeClr val="tx1"/>
                </a:solidFill>
              </a:rPr>
              <a:t>Future Scope</a:t>
            </a:r>
            <a:endParaRPr lang="en-US" sz="1400" dirty="0"/>
          </a:p>
        </p:txBody>
      </p:sp>
      <p:sp>
        <p:nvSpPr>
          <p:cNvPr id="17" name="Text 12"/>
          <p:cNvSpPr txBox="1"/>
          <p:nvPr/>
        </p:nvSpPr>
        <p:spPr>
          <a:xfrm>
            <a:off x="6263640" y="1783080"/>
            <a:ext cx="2286000" cy="2057400"/>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chemeClr val="tx2"/>
                </a:solidFill>
              </a:rPr>
              <a:t>More animals (birds, rabbits)</a:t>
            </a:r>
            <a:endParaRPr lang="en-US" sz="1200" dirty="0"/>
          </a:p>
          <a:p>
            <a:pPr marL="152400" indent="-152400">
              <a:spcAft>
                <a:spcPts val="500"/>
              </a:spcAft>
              <a:buSzPct val="100000"/>
              <a:buChar char="•"/>
            </a:pPr>
            <a:r>
              <a:rPr lang="en-US" sz="1200" dirty="0">
                <a:solidFill>
                  <a:schemeClr val="tx2"/>
                </a:solidFill>
              </a:rPr>
              <a:t>Offline phone app (TensorFlow Lite)</a:t>
            </a:r>
            <a:endParaRPr lang="en-US" sz="1200" dirty="0"/>
          </a:p>
          <a:p>
            <a:pPr marL="152400" indent="-152400">
              <a:spcAft>
                <a:spcPts val="500"/>
              </a:spcAft>
              <a:buSzPct val="100000"/>
              <a:buChar char="•"/>
            </a:pPr>
            <a:r>
              <a:rPr lang="en-US" sz="1200" dirty="0">
                <a:solidFill>
                  <a:schemeClr val="tx2"/>
                </a:solidFill>
              </a:rPr>
              <a:t>Lost-pet matching by photo similarity</a:t>
            </a:r>
            <a:endParaRPr lang="en-US" sz="1200" dirty="0"/>
          </a:p>
          <a:p>
            <a:pPr marL="152400" indent="-152400">
              <a:spcAft>
                <a:spcPts val="500"/>
              </a:spcAft>
              <a:buSzPct val="100000"/>
              <a:buChar char="•"/>
            </a:pPr>
            <a:r>
              <a:rPr lang="en-US" sz="1200" dirty="0">
                <a:solidFill>
                  <a:schemeClr val="tx2"/>
                </a:solidFill>
              </a:rPr>
              <a:t>Retrain using user feedback</a:t>
            </a:r>
            <a:endParaRPr lang="en-US" sz="1200" dirty="0"/>
          </a:p>
        </p:txBody>
      </p:sp>
      <p:sp>
        <p:nvSpPr>
          <p:cNvPr id="18" name="Text 13"/>
          <p:cNvSpPr txBox="1"/>
          <p:nvPr/>
        </p:nvSpPr>
        <p:spPr>
          <a:xfrm>
            <a:off x="457200" y="4069080"/>
            <a:ext cx="8229600" cy="411480"/>
          </a:xfrm>
          <a:prstGeom prst="rect">
            <a:avLst/>
          </a:prstGeom>
          <a:noFill/>
          <a:ln/>
        </p:spPr>
        <p:txBody>
          <a:bodyPr wrap="square" lIns="0" tIns="0" rIns="0" bIns="0" rtlCol="0" anchor="ctr"/>
          <a:lstStyle/>
          <a:p>
            <a:pPr indent="0" marL="0">
              <a:buNone/>
            </a:pPr>
            <a:r>
              <a:rPr lang="en-US" sz="1200" b="1" dirty="0">
                <a:solidFill>
                  <a:schemeClr val="accent1"/>
                </a:solidFill>
              </a:rPr>
              <a:t>Applications: </a:t>
            </a:r>
            <a:pPr indent="0" marL="0">
              <a:buNone/>
            </a:pPr>
            <a:r>
              <a:rPr lang="en-US" sz="1200" dirty="0">
                <a:solidFill>
                  <a:schemeClr val="tx1"/>
                </a:solidFill>
              </a:rPr>
              <a:t>pet adoption portals · animal shelters · vet clinic intake · smart photo albums · teaching AI in classrooms</a:t>
            </a:r>
            <a:endParaRPr lang="en-US" sz="12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457200"/>
            <a:ext cx="5486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13 | CONCLUSION</a:t>
            </a:r>
            <a:endParaRPr lang="en-US" sz="1100" dirty="0"/>
          </a:p>
        </p:txBody>
      </p:sp>
      <p:sp>
        <p:nvSpPr>
          <p:cNvPr id="3" name="Text 1"/>
          <p:cNvSpPr txBox="1"/>
          <p:nvPr/>
        </p:nvSpPr>
        <p:spPr>
          <a:xfrm>
            <a:off x="548640" y="822960"/>
            <a:ext cx="8046720" cy="1097280"/>
          </a:xfrm>
          <a:prstGeom prst="rect">
            <a:avLst/>
          </a:prstGeom>
          <a:noFill/>
          <a:ln/>
        </p:spPr>
        <p:txBody>
          <a:bodyPr wrap="square" lIns="0" tIns="0" rIns="0" bIns="0" rtlCol="0" anchor="t"/>
          <a:lstStyle/>
          <a:p>
            <a:pPr indent="0" marL="0">
              <a:buNone/>
            </a:pPr>
            <a:r>
              <a:rPr lang="en-US" sz="2400" b="1" dirty="0">
                <a:solidFill>
                  <a:schemeClr val="bg1"/>
                </a:solidFill>
                <a:latin typeface="Arial" pitchFamily="34" charset="0"/>
                <a:ea typeface="Arial" pitchFamily="34" charset="-122"/>
                <a:cs typeface="Arial" pitchFamily="34" charset="-120"/>
              </a:rPr>
              <a:t>PawLens turns a basic CNN exercise into a complete, explainable and usable deep learning application.</a:t>
            </a:r>
            <a:endParaRPr lang="en-US" sz="2400" dirty="0"/>
          </a:p>
        </p:txBody>
      </p:sp>
      <p:sp>
        <p:nvSpPr>
          <p:cNvPr id="4" name="Accurate circle"/>
          <p:cNvSpPr/>
          <p:nvPr/>
        </p:nvSpPr>
        <p:spPr>
          <a:xfrm>
            <a:off x="548640" y="2240280"/>
            <a:ext cx="548640" cy="548640"/>
          </a:xfrm>
          <a:prstGeom prst="ellipse">
            <a:avLst/>
          </a:prstGeom>
          <a:solidFill>
            <a:schemeClr val="accent2"/>
          </a:solidFill>
          <a:ln/>
        </p:spPr>
      </p:sp>
      <p:pic>
        <p:nvPicPr>
          <p:cNvPr id="5" name="Image 0" descr="Accurate">    </p:cNvPr>
          <p:cNvPicPr>
            <a:picLocks noChangeAspect="1"/>
          </p:cNvPicPr>
          <p:nvPr/>
        </p:nvPicPr>
        <p:blipFill>
          <a:blip r:embed="rId1"/>
          <a:stretch>
            <a:fillRect/>
          </a:stretch>
        </p:blipFill>
        <p:spPr>
          <a:xfrm>
            <a:off x="685800" y="2377440"/>
            <a:ext cx="274320" cy="274320"/>
          </a:xfrm>
          <a:prstGeom prst="rect">
            <a:avLst/>
          </a:prstGeom>
        </p:spPr>
      </p:pic>
      <p:sp>
        <p:nvSpPr>
          <p:cNvPr id="6" name="Text 3"/>
          <p:cNvSpPr txBox="1"/>
          <p:nvPr/>
        </p:nvSpPr>
        <p:spPr>
          <a:xfrm>
            <a:off x="548640" y="2926080"/>
            <a:ext cx="2468880" cy="914400"/>
          </a:xfrm>
          <a:prstGeom prst="rect">
            <a:avLst/>
          </a:prstGeom>
          <a:noFill/>
          <a:ln/>
        </p:spPr>
        <p:txBody>
          <a:bodyPr wrap="square" lIns="0" tIns="0" rIns="0" bIns="0" rtlCol="0" anchor="t"/>
          <a:lstStyle/>
          <a:p>
            <a:pPr indent="0" marL="0">
              <a:spcAft>
                <a:spcPts val="300"/>
              </a:spcAft>
              <a:buNone/>
            </a:pPr>
            <a:r>
              <a:rPr lang="en-US" sz="1500" b="1" dirty="0">
                <a:solidFill>
                  <a:schemeClr val="bg1"/>
                </a:solidFill>
              </a:rPr>
              <a:t>Accurate</a:t>
            </a:r>
            <a:endParaRPr lang="en-US" sz="1500" dirty="0"/>
          </a:p>
          <a:p>
            <a:pPr indent="0" marL="0">
              <a:spcAft>
                <a:spcPts val="300"/>
              </a:spcAft>
              <a:buNone/>
            </a:pPr>
            <a:r>
              <a:rPr lang="en-US" sz="1200" dirty="0">
                <a:solidFill>
                  <a:srgbClr val="A9AEC9"/>
                </a:solidFill>
              </a:rPr>
              <a:t>Transfer learning reaches high accuracy with less data and training time</a:t>
            </a:r>
            <a:endParaRPr lang="en-US" sz="1500" dirty="0"/>
          </a:p>
        </p:txBody>
      </p:sp>
      <p:sp>
        <p:nvSpPr>
          <p:cNvPr id="7" name="Honest circle"/>
          <p:cNvSpPr/>
          <p:nvPr/>
        </p:nvSpPr>
        <p:spPr>
          <a:xfrm>
            <a:off x="3291840" y="2240280"/>
            <a:ext cx="548640" cy="548640"/>
          </a:xfrm>
          <a:prstGeom prst="ellipse">
            <a:avLst/>
          </a:prstGeom>
          <a:solidFill>
            <a:schemeClr val="accent1"/>
          </a:solidFill>
          <a:ln/>
        </p:spPr>
      </p:sp>
      <p:pic>
        <p:nvPicPr>
          <p:cNvPr id="8" name="Image 1" descr="Honest">    </p:cNvPr>
          <p:cNvPicPr>
            <a:picLocks noChangeAspect="1"/>
          </p:cNvPicPr>
          <p:nvPr/>
        </p:nvPicPr>
        <p:blipFill>
          <a:blip r:embed="rId2"/>
          <a:stretch>
            <a:fillRect/>
          </a:stretch>
        </p:blipFill>
        <p:spPr>
          <a:xfrm>
            <a:off x="3429000" y="2377440"/>
            <a:ext cx="274320" cy="274320"/>
          </a:xfrm>
          <a:prstGeom prst="rect">
            <a:avLst/>
          </a:prstGeom>
        </p:spPr>
      </p:pic>
      <p:sp>
        <p:nvSpPr>
          <p:cNvPr id="9" name="Text 5"/>
          <p:cNvSpPr txBox="1"/>
          <p:nvPr/>
        </p:nvSpPr>
        <p:spPr>
          <a:xfrm>
            <a:off x="3291840" y="2926080"/>
            <a:ext cx="2468880" cy="914400"/>
          </a:xfrm>
          <a:prstGeom prst="rect">
            <a:avLst/>
          </a:prstGeom>
          <a:noFill/>
          <a:ln/>
        </p:spPr>
        <p:txBody>
          <a:bodyPr wrap="square" lIns="0" tIns="0" rIns="0" bIns="0" rtlCol="0" anchor="t"/>
          <a:lstStyle/>
          <a:p>
            <a:pPr indent="0" marL="0">
              <a:spcAft>
                <a:spcPts val="300"/>
              </a:spcAft>
              <a:buNone/>
            </a:pPr>
            <a:r>
              <a:rPr lang="en-US" sz="1500" b="1" dirty="0">
                <a:solidFill>
                  <a:schemeClr val="bg1"/>
                </a:solidFill>
              </a:rPr>
              <a:t>Honest</a:t>
            </a:r>
            <a:endParaRPr lang="en-US" sz="1500" dirty="0"/>
          </a:p>
          <a:p>
            <a:pPr indent="0" marL="0">
              <a:spcAft>
                <a:spcPts val="300"/>
              </a:spcAft>
              <a:buNone/>
            </a:pPr>
            <a:r>
              <a:rPr lang="en-US" sz="1200" dirty="0">
                <a:solidFill>
                  <a:srgbClr val="A9AEC9"/>
                </a:solidFill>
              </a:rPr>
              <a:t>Rejects non-pet photos and flags uncertain answers</a:t>
            </a:r>
            <a:endParaRPr lang="en-US" sz="1500" dirty="0"/>
          </a:p>
        </p:txBody>
      </p:sp>
      <p:sp>
        <p:nvSpPr>
          <p:cNvPr id="10" name="Explainable circle"/>
          <p:cNvSpPr/>
          <p:nvPr/>
        </p:nvSpPr>
        <p:spPr>
          <a:xfrm>
            <a:off x="6035040" y="2240280"/>
            <a:ext cx="548640" cy="548640"/>
          </a:xfrm>
          <a:prstGeom prst="ellipse">
            <a:avLst/>
          </a:prstGeom>
          <a:solidFill>
            <a:schemeClr val="accent3"/>
          </a:solidFill>
          <a:ln/>
        </p:spPr>
      </p:sp>
      <p:pic>
        <p:nvPicPr>
          <p:cNvPr id="11" name="Image 2" descr="Explainable">    </p:cNvPr>
          <p:cNvPicPr>
            <a:picLocks noChangeAspect="1"/>
          </p:cNvPicPr>
          <p:nvPr/>
        </p:nvPicPr>
        <p:blipFill>
          <a:blip r:embed="rId3"/>
          <a:stretch>
            <a:fillRect/>
          </a:stretch>
        </p:blipFill>
        <p:spPr>
          <a:xfrm>
            <a:off x="6172200" y="2377440"/>
            <a:ext cx="274320" cy="274320"/>
          </a:xfrm>
          <a:prstGeom prst="rect">
            <a:avLst/>
          </a:prstGeom>
        </p:spPr>
      </p:pic>
      <p:sp>
        <p:nvSpPr>
          <p:cNvPr id="12" name="Text 7"/>
          <p:cNvSpPr txBox="1"/>
          <p:nvPr/>
        </p:nvSpPr>
        <p:spPr>
          <a:xfrm>
            <a:off x="6035040" y="2926080"/>
            <a:ext cx="2468880" cy="914400"/>
          </a:xfrm>
          <a:prstGeom prst="rect">
            <a:avLst/>
          </a:prstGeom>
          <a:noFill/>
          <a:ln/>
        </p:spPr>
        <p:txBody>
          <a:bodyPr wrap="square" lIns="0" tIns="0" rIns="0" bIns="0" rtlCol="0" anchor="t"/>
          <a:lstStyle/>
          <a:p>
            <a:pPr indent="0" marL="0">
              <a:spcAft>
                <a:spcPts val="300"/>
              </a:spcAft>
              <a:buNone/>
            </a:pPr>
            <a:r>
              <a:rPr lang="en-US" sz="1500" b="1" dirty="0">
                <a:solidFill>
                  <a:schemeClr val="bg1"/>
                </a:solidFill>
              </a:rPr>
              <a:t>Explainable</a:t>
            </a:r>
            <a:endParaRPr lang="en-US" sz="1500" dirty="0"/>
          </a:p>
          <a:p>
            <a:pPr indent="0" marL="0">
              <a:spcAft>
                <a:spcPts val="300"/>
              </a:spcAft>
              <a:buNone/>
            </a:pPr>
            <a:r>
              <a:rPr lang="en-US" sz="1200" dirty="0">
                <a:solidFill>
                  <a:srgbClr val="A9AEC9"/>
                </a:solidFill>
              </a:rPr>
              <a:t>A heatmap shows exactly where the model looked</a:t>
            </a:r>
            <a:endParaRPr lang="en-US" sz="1500" dirty="0"/>
          </a:p>
        </p:txBody>
      </p:sp>
      <p:sp>
        <p:nvSpPr>
          <p:cNvPr id="13" name="Text 8"/>
          <p:cNvSpPr txBox="1"/>
          <p:nvPr/>
        </p:nvSpPr>
        <p:spPr>
          <a:xfrm>
            <a:off x="548640" y="4206240"/>
            <a:ext cx="8046720" cy="457200"/>
          </a:xfrm>
          <a:prstGeom prst="rect">
            <a:avLst/>
          </a:prstGeom>
          <a:noFill/>
          <a:ln/>
        </p:spPr>
        <p:txBody>
          <a:bodyPr wrap="square" lIns="0" tIns="0" rIns="0" bIns="0" rtlCol="0" anchor="ctr"/>
          <a:lstStyle/>
          <a:p>
            <a:pPr indent="0" marL="0">
              <a:buNone/>
            </a:pPr>
            <a:r>
              <a:rPr lang="en-US" sz="1800" b="1" dirty="0">
                <a:solidFill>
                  <a:schemeClr val="accent4"/>
                </a:solidFill>
              </a:rPr>
              <a:t>Thank you  ·  Questions?</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600" b="1" dirty="0">
                <a:solidFill>
                  <a:schemeClr val="tx1"/>
                </a:solidFill>
              </a:rPr>
              <a:t>References</a:t>
            </a:r>
            <a:endParaRPr lang="en-US" sz="2600" dirty="0"/>
          </a:p>
        </p:txBody>
      </p:sp>
      <p:sp>
        <p:nvSpPr>
          <p:cNvPr id="3" name="references circle"/>
          <p:cNvSpPr/>
          <p:nvPr/>
        </p:nvSpPr>
        <p:spPr>
          <a:xfrm>
            <a:off x="457200" y="1051560"/>
            <a:ext cx="502920" cy="502920"/>
          </a:xfrm>
          <a:prstGeom prst="ellipse">
            <a:avLst/>
          </a:prstGeom>
          <a:solidFill>
            <a:schemeClr val="tx1"/>
          </a:solidFill>
          <a:ln/>
        </p:spPr>
      </p:sp>
      <p:pic>
        <p:nvPicPr>
          <p:cNvPr id="4" name="Image 0" descr="references">    </p:cNvPr>
          <p:cNvPicPr>
            <a:picLocks noChangeAspect="1"/>
          </p:cNvPicPr>
          <p:nvPr/>
        </p:nvPicPr>
        <p:blipFill>
          <a:blip r:embed="rId1"/>
          <a:stretch>
            <a:fillRect/>
          </a:stretch>
        </p:blipFill>
        <p:spPr>
          <a:xfrm>
            <a:off x="582930" y="1177290"/>
            <a:ext cx="251460" cy="251460"/>
          </a:xfrm>
          <a:prstGeom prst="rect">
            <a:avLst/>
          </a:prstGeom>
        </p:spPr>
      </p:pic>
      <p:sp>
        <p:nvSpPr>
          <p:cNvPr id="5" name="Text 2"/>
          <p:cNvSpPr txBox="1"/>
          <p:nvPr/>
        </p:nvSpPr>
        <p:spPr>
          <a:xfrm>
            <a:off x="1188720" y="1005840"/>
            <a:ext cx="7498080" cy="3474720"/>
          </a:xfrm>
          <a:prstGeom prst="rect">
            <a:avLst/>
          </a:prstGeom>
          <a:noFill/>
          <a:ln/>
        </p:spPr>
        <p:txBody>
          <a:bodyPr wrap="square" lIns="0" tIns="0" rIns="0" bIns="0" rtlCol="0" anchor="t"/>
          <a:lstStyle/>
          <a:p>
            <a:pPr indent="0" marL="0">
              <a:spcAft>
                <a:spcPts val="900"/>
              </a:spcAft>
              <a:buNone/>
            </a:pPr>
            <a:r>
              <a:rPr lang="en-US" sz="1200" b="1" dirty="0">
                <a:solidFill>
                  <a:schemeClr val="tx1"/>
                </a:solidFill>
              </a:rPr>
              <a:t>[1]  Parkhi, Vedaldi, Zisserman &amp; Jawahar, </a:t>
            </a:r>
            <a:pPr indent="0" marL="0">
              <a:spcAft>
                <a:spcPts val="900"/>
              </a:spcAft>
              <a:buNone/>
            </a:pPr>
            <a:r>
              <a:rPr lang="en-US" sz="1200" dirty="0">
                <a:solidFill>
                  <a:schemeClr val="tx2"/>
                </a:solidFill>
              </a:rPr>
              <a:t>“Cats and Dogs”, CVPR 2012 — Oxford-IIIT Pet dataset</a:t>
            </a:r>
            <a:endParaRPr lang="en-US" sz="1200" dirty="0"/>
          </a:p>
          <a:p>
            <a:pPr indent="0" marL="0">
              <a:spcAft>
                <a:spcPts val="900"/>
              </a:spcAft>
              <a:buNone/>
            </a:pPr>
            <a:r>
              <a:rPr lang="en-US" sz="1200" b="1" dirty="0">
                <a:solidFill>
                  <a:schemeClr val="tx1"/>
                </a:solidFill>
              </a:rPr>
              <a:t>[2]  Elson, Douceur, Howell &amp; Saul, </a:t>
            </a:r>
            <a:pPr indent="0" marL="0">
              <a:spcAft>
                <a:spcPts val="900"/>
              </a:spcAft>
              <a:buNone/>
            </a:pPr>
            <a:r>
              <a:rPr lang="en-US" sz="1200" dirty="0">
                <a:solidFill>
                  <a:schemeClr val="tx2"/>
                </a:solidFill>
              </a:rPr>
              <a:t>“Asirra: A CAPTCHA that Exploits Interest-Aligned Manual Image Categorization”, ACM CCS 2007 — source of the cats vs dogs images</a:t>
            </a:r>
            <a:endParaRPr lang="en-US" sz="1200" dirty="0"/>
          </a:p>
          <a:p>
            <a:pPr indent="0" marL="0">
              <a:spcAft>
                <a:spcPts val="900"/>
              </a:spcAft>
              <a:buNone/>
            </a:pPr>
            <a:r>
              <a:rPr lang="en-US" sz="1200" b="1" dirty="0">
                <a:solidFill>
                  <a:schemeClr val="tx1"/>
                </a:solidFill>
              </a:rPr>
              <a:t>[3]  Sandler, Howard, Zhu, Zhmoginov &amp; Chen, </a:t>
            </a:r>
            <a:pPr indent="0" marL="0">
              <a:spcAft>
                <a:spcPts val="900"/>
              </a:spcAft>
              <a:buNone/>
            </a:pPr>
            <a:r>
              <a:rPr lang="en-US" sz="1200" dirty="0">
                <a:solidFill>
                  <a:schemeClr val="tx2"/>
                </a:solidFill>
              </a:rPr>
              <a:t>“MobileNetV2: Inverted Residuals and Linear Bottlenecks”, CVPR 2018</a:t>
            </a:r>
            <a:endParaRPr lang="en-US" sz="1200" dirty="0"/>
          </a:p>
          <a:p>
            <a:pPr indent="0" marL="0">
              <a:spcAft>
                <a:spcPts val="900"/>
              </a:spcAft>
              <a:buNone/>
            </a:pPr>
            <a:r>
              <a:rPr lang="en-US" sz="1200" b="1" dirty="0">
                <a:solidFill>
                  <a:schemeClr val="tx1"/>
                </a:solidFill>
              </a:rPr>
              <a:t>[4]  Tan &amp; Le, </a:t>
            </a:r>
            <a:pPr indent="0" marL="0">
              <a:spcAft>
                <a:spcPts val="900"/>
              </a:spcAft>
              <a:buNone/>
            </a:pPr>
            <a:r>
              <a:rPr lang="en-US" sz="1200" dirty="0">
                <a:solidFill>
                  <a:schemeClr val="tx2"/>
                </a:solidFill>
              </a:rPr>
              <a:t>“EfficientNet: Rethinking Model Scaling for Convolutional Neural Networks”, ICML 2019</a:t>
            </a:r>
            <a:endParaRPr lang="en-US" sz="1200" dirty="0"/>
          </a:p>
          <a:p>
            <a:pPr indent="0" marL="0">
              <a:spcAft>
                <a:spcPts val="900"/>
              </a:spcAft>
              <a:buNone/>
            </a:pPr>
            <a:r>
              <a:rPr lang="en-US" sz="1200" b="1" dirty="0">
                <a:solidFill>
                  <a:schemeClr val="tx1"/>
                </a:solidFill>
              </a:rPr>
              <a:t>[5]  Selvaraju et al., </a:t>
            </a:r>
            <a:pPr indent="0" marL="0">
              <a:spcAft>
                <a:spcPts val="900"/>
              </a:spcAft>
              <a:buNone/>
            </a:pPr>
            <a:r>
              <a:rPr lang="en-US" sz="1200" dirty="0">
                <a:solidFill>
                  <a:schemeClr val="tx2"/>
                </a:solidFill>
              </a:rPr>
              <a:t>“Grad-CAM: Visual Explanations from Deep Networks via Gradient-based Localization”, ICCV 2017</a:t>
            </a:r>
            <a:endParaRPr lang="en-US" sz="1200" dirty="0"/>
          </a:p>
          <a:p>
            <a:pPr indent="0" marL="0">
              <a:spcAft>
                <a:spcPts val="900"/>
              </a:spcAft>
              <a:buNone/>
            </a:pPr>
            <a:r>
              <a:rPr lang="en-US" sz="1200" b="1" dirty="0">
                <a:solidFill>
                  <a:schemeClr val="tx1"/>
                </a:solidFill>
              </a:rPr>
              <a:t>[6]  TensorFlow Datasets, </a:t>
            </a:r>
            <a:pPr indent="0" marL="0">
              <a:spcAft>
                <a:spcPts val="900"/>
              </a:spcAft>
              <a:buNone/>
            </a:pPr>
            <a:r>
              <a:rPr lang="en-US" sz="1200" dirty="0">
                <a:solidFill>
                  <a:schemeClr val="tx2"/>
                </a:solidFill>
              </a:rPr>
              <a:t>cats_vs_dogs and oxford_iiit_pet dataset catalogue — tensorflow.org/datasets</a:t>
            </a:r>
            <a:endParaRPr lang="en-US" sz="12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600" b="1" dirty="0">
                <a:solidFill>
                  <a:schemeClr val="tx1"/>
                </a:solidFill>
              </a:rPr>
              <a:t>Appendix | Technical Spec for Developers</a:t>
            </a:r>
            <a:endParaRPr lang="en-US" sz="2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4846320" cy="914400"/>
        </p:xfrm>
        <a:graphic>
          <a:graphicData uri="http://schemas.openxmlformats.org/drawingml/2006/table">
            <a:tbl>
              <a:tblPr/>
              <a:tblGrid>
                <a:gridCol w="594360"/>
                <a:gridCol w="1600200"/>
                <a:gridCol w="2651760"/>
              </a:tblGrid>
              <a:tr h="384048">
                <a:tc>
                  <a:txBody>
                    <a:bodyPr/>
                    <a:lstStyle/>
                    <a:p>
                      <a:pPr indent="0" marL="0">
                        <a:buNone/>
                      </a:pPr>
                      <a:r>
                        <a:rPr lang="en-US" sz="1000" b="1" dirty="0">
                          <a:solidFill>
                            <a:schemeClr val="bg1"/>
                          </a:solidFill>
                        </a:rPr>
                        <a:t>Method</a:t>
                      </a:r>
                      <a:endParaRPr lang="en-US" sz="1000" dirty="0"/>
                    </a:p>
                  </a:txBody>
                  <a:tcPr marL="64008" marR="64008"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tx1"/>
                    </a:solidFill>
                  </a:tcPr>
                </a:tc>
                <a:tc>
                  <a:txBody>
                    <a:bodyPr/>
                    <a:lstStyle/>
                    <a:p>
                      <a:pPr indent="0" marL="0">
                        <a:buNone/>
                      </a:pPr>
                      <a:r>
                        <a:rPr lang="en-US" sz="1000" b="1" dirty="0">
                          <a:solidFill>
                            <a:schemeClr val="bg1"/>
                          </a:solidFill>
                        </a:rPr>
                        <a:t>Endpoint</a:t>
                      </a:r>
                      <a:endParaRPr lang="en-US" sz="1000" dirty="0"/>
                    </a:p>
                  </a:txBody>
                  <a:tcPr marL="64008" marR="64008"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tx1"/>
                    </a:solidFill>
                  </a:tcPr>
                </a:tc>
                <a:tc>
                  <a:txBody>
                    <a:bodyPr/>
                    <a:lstStyle/>
                    <a:p>
                      <a:pPr indent="0" marL="0">
                        <a:buNone/>
                      </a:pPr>
                      <a:r>
                        <a:rPr lang="en-US" sz="1000" b="1" dirty="0">
                          <a:solidFill>
                            <a:schemeClr val="bg1"/>
                          </a:solidFill>
                        </a:rPr>
                        <a:t>Does</a:t>
                      </a:r>
                      <a:endParaRPr lang="en-US" sz="1000" dirty="0"/>
                    </a:p>
                  </a:txBody>
                  <a:tcPr marL="64008" marR="64008"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tx1"/>
                    </a:solidFill>
                  </a:tcPr>
                </a:tc>
              </a:tr>
              <a:tr h="384048">
                <a:tc>
                  <a:txBody>
                    <a:bodyPr/>
                    <a:lstStyle/>
                    <a:p>
                      <a:pPr indent="0" marL="0">
                        <a:buNone/>
                      </a:pPr>
                      <a:r>
                        <a:rPr lang="en-US" sz="1000" b="1" dirty="0">
                          <a:solidFill>
                            <a:schemeClr val="accent1"/>
                          </a:solidFill>
                          <a:latin typeface="Calibri" pitchFamily="34" charset="0"/>
                          <a:ea typeface="Calibri" pitchFamily="34" charset="-122"/>
                          <a:cs typeface="Calibri" pitchFamily="34" charset="-120"/>
                        </a:rPr>
                        <a:t>GET</a:t>
                      </a:r>
                      <a:endParaRPr lang="en-US" sz="1000" dirty="0">
                        <a:latin typeface="Calibri" charset="0"/>
                        <a:ea typeface="Calibri" charset="0"/>
                        <a:cs typeface="Calibri" charset="0"/>
                      </a:endParaRPr>
                    </a:p>
                  </a:txBody>
                  <a:tcPr marL="64008" marR="64008"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bg2"/>
                    </a:solidFill>
                  </a:tcPr>
                </a:tc>
                <a:tc>
                  <a:txBody>
                    <a:bodyPr/>
                    <a:lstStyle/>
                    <a:p>
                      <a:pPr indent="0" marL="0">
                        <a:buNone/>
                      </a:pPr>
                      <a:r>
                        <a:rPr lang="en-US" sz="1000" b="1" dirty="0">
                          <a:solidFill>
                            <a:schemeClr val="tx1"/>
                          </a:solidFill>
                          <a:latin typeface="Courier New" pitchFamily="34" charset="0"/>
                          <a:ea typeface="Courier New" pitchFamily="34" charset="-122"/>
                          <a:cs typeface="Courier New" pitchFamily="34" charset="-120"/>
                        </a:rPr>
                        <a:t>/api/health</a:t>
                      </a:r>
                      <a:endParaRPr lang="en-US" sz="1000" dirty="0">
                        <a:latin typeface="Courier New" charset="0"/>
                        <a:ea typeface="Courier New" charset="0"/>
                        <a:cs typeface="Courier New" charset="0"/>
                      </a:endParaRPr>
                    </a:p>
                  </a:txBody>
                  <a:tcPr marL="64008" marR="64008"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status, demo mode, models loaded</a:t>
                      </a:r>
                      <a:endParaRPr lang="en-US" sz="1000" dirty="0">
                        <a:latin typeface="Calibri" charset="0"/>
                        <a:ea typeface="Calibri" charset="0"/>
                        <a:cs typeface="Calibri" charset="0"/>
                      </a:endParaRPr>
                    </a:p>
                  </a:txBody>
                  <a:tcPr marL="64008" marR="64008"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bg2"/>
                    </a:solidFill>
                  </a:tcPr>
                </a:tc>
              </a:tr>
              <a:tr h="384048">
                <a:tc>
                  <a:txBody>
                    <a:bodyPr/>
                    <a:lstStyle/>
                    <a:p>
                      <a:pPr indent="0" marL="0">
                        <a:buNone/>
                      </a:pPr>
                      <a:r>
                        <a:rPr lang="en-US" sz="1000" b="1" dirty="0">
                          <a:solidFill>
                            <a:schemeClr val="accent1"/>
                          </a:solidFill>
                          <a:latin typeface="Calibri" pitchFamily="34" charset="0"/>
                          <a:ea typeface="Calibri" pitchFamily="34" charset="-122"/>
                          <a:cs typeface="Calibri" pitchFamily="34" charset="-120"/>
                        </a:rPr>
                        <a:t>POST</a:t>
                      </a:r>
                      <a:endParaRPr lang="en-US" sz="1000" dirty="0">
                        <a:latin typeface="Calibri" charset="0"/>
                        <a:ea typeface="Calibri" charset="0"/>
                        <a:cs typeface="Calibri" charset="0"/>
                      </a:endParaRPr>
                    </a:p>
                  </a:txBody>
                  <a:tcPr marL="64008" marR="64008"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bg1"/>
                    </a:solidFill>
                  </a:tcPr>
                </a:tc>
                <a:tc>
                  <a:txBody>
                    <a:bodyPr/>
                    <a:lstStyle/>
                    <a:p>
                      <a:pPr indent="0" marL="0">
                        <a:buNone/>
                      </a:pPr>
                      <a:r>
                        <a:rPr lang="en-US" sz="1000" b="1" dirty="0">
                          <a:solidFill>
                            <a:schemeClr val="tx1"/>
                          </a:solidFill>
                          <a:latin typeface="Courier New" pitchFamily="34" charset="0"/>
                          <a:ea typeface="Courier New" pitchFamily="34" charset="-122"/>
                          <a:cs typeface="Courier New" pitchFamily="34" charset="-120"/>
                        </a:rPr>
                        <a:t>/api/predict</a:t>
                      </a:r>
                      <a:endParaRPr lang="en-US" sz="1000" dirty="0">
                        <a:latin typeface="Courier New" charset="0"/>
                        <a:ea typeface="Courier New" charset="0"/>
                        <a:cs typeface="Courier New" charset="0"/>
                      </a:endParaRPr>
                    </a:p>
                  </a:txBody>
                  <a:tcPr marL="64008" marR="64008"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photo → gate, species, top-3 breeds, agreement, heatmap</a:t>
                      </a:r>
                      <a:endParaRPr lang="en-US" sz="1000" dirty="0">
                        <a:latin typeface="Calibri" charset="0"/>
                        <a:ea typeface="Calibri" charset="0"/>
                        <a:cs typeface="Calibri" charset="0"/>
                      </a:endParaRPr>
                    </a:p>
                  </a:txBody>
                  <a:tcPr marL="64008" marR="64008"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bg1"/>
                    </a:solidFill>
                  </a:tcPr>
                </a:tc>
              </a:tr>
              <a:tr h="384048">
                <a:tc>
                  <a:txBody>
                    <a:bodyPr/>
                    <a:lstStyle/>
                    <a:p>
                      <a:pPr indent="0" marL="0">
                        <a:buNone/>
                      </a:pPr>
                      <a:r>
                        <a:rPr lang="en-US" sz="1000" b="1" dirty="0">
                          <a:solidFill>
                            <a:schemeClr val="accent1"/>
                          </a:solidFill>
                          <a:latin typeface="Calibri" pitchFamily="34" charset="0"/>
                          <a:ea typeface="Calibri" pitchFamily="34" charset="-122"/>
                          <a:cs typeface="Calibri" pitchFamily="34" charset="-120"/>
                        </a:rPr>
                        <a:t>POST</a:t>
                      </a:r>
                      <a:endParaRPr lang="en-US" sz="1000" dirty="0">
                        <a:latin typeface="Calibri" charset="0"/>
                        <a:ea typeface="Calibri" charset="0"/>
                        <a:cs typeface="Calibri" charset="0"/>
                      </a:endParaRPr>
                    </a:p>
                  </a:txBody>
                  <a:tcPr marL="64008" marR="64008"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bg2"/>
                    </a:solidFill>
                  </a:tcPr>
                </a:tc>
                <a:tc>
                  <a:txBody>
                    <a:bodyPr/>
                    <a:lstStyle/>
                    <a:p>
                      <a:pPr indent="0" marL="0">
                        <a:buNone/>
                      </a:pPr>
                      <a:r>
                        <a:rPr lang="en-US" sz="1000" b="1" dirty="0">
                          <a:solidFill>
                            <a:schemeClr val="tx1"/>
                          </a:solidFill>
                          <a:latin typeface="Courier New" pitchFamily="34" charset="0"/>
                          <a:ea typeface="Courier New" pitchFamily="34" charset="-122"/>
                          <a:cs typeface="Courier New" pitchFamily="34" charset="-120"/>
                        </a:rPr>
                        <a:t>/api/predict/batch</a:t>
                      </a:r>
                      <a:endParaRPr lang="en-US" sz="1000" dirty="0">
                        <a:latin typeface="Courier New" charset="0"/>
                        <a:ea typeface="Courier New" charset="0"/>
                        <a:cs typeface="Courier New" charset="0"/>
                      </a:endParaRPr>
                    </a:p>
                  </a:txBody>
                  <a:tcPr marL="64008" marR="64008"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up to 50 photos → list of results</a:t>
                      </a:r>
                      <a:endParaRPr lang="en-US" sz="1000" dirty="0">
                        <a:latin typeface="Calibri" charset="0"/>
                        <a:ea typeface="Calibri" charset="0"/>
                        <a:cs typeface="Calibri" charset="0"/>
                      </a:endParaRPr>
                    </a:p>
                  </a:txBody>
                  <a:tcPr marL="64008" marR="64008"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bg2"/>
                    </a:solidFill>
                  </a:tcPr>
                </a:tc>
              </a:tr>
              <a:tr h="384048">
                <a:tc>
                  <a:txBody>
                    <a:bodyPr/>
                    <a:lstStyle/>
                    <a:p>
                      <a:pPr indent="0" marL="0">
                        <a:buNone/>
                      </a:pPr>
                      <a:r>
                        <a:rPr lang="en-US" sz="1000" b="1" dirty="0">
                          <a:solidFill>
                            <a:schemeClr val="accent1"/>
                          </a:solidFill>
                          <a:latin typeface="Calibri" pitchFamily="34" charset="0"/>
                          <a:ea typeface="Calibri" pitchFamily="34" charset="-122"/>
                          <a:cs typeface="Calibri" pitchFamily="34" charset="-120"/>
                        </a:rPr>
                        <a:t>POST</a:t>
                      </a:r>
                      <a:endParaRPr lang="en-US" sz="1000" dirty="0">
                        <a:latin typeface="Calibri" charset="0"/>
                        <a:ea typeface="Calibri" charset="0"/>
                        <a:cs typeface="Calibri" charset="0"/>
                      </a:endParaRPr>
                    </a:p>
                  </a:txBody>
                  <a:tcPr marL="64008" marR="64008"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bg1"/>
                    </a:solidFill>
                  </a:tcPr>
                </a:tc>
                <a:tc>
                  <a:txBody>
                    <a:bodyPr/>
                    <a:lstStyle/>
                    <a:p>
                      <a:pPr indent="0" marL="0">
                        <a:buNone/>
                      </a:pPr>
                      <a:r>
                        <a:rPr lang="en-US" sz="1000" b="1" dirty="0">
                          <a:solidFill>
                            <a:schemeClr val="tx1"/>
                          </a:solidFill>
                          <a:latin typeface="Courier New" pitchFamily="34" charset="0"/>
                          <a:ea typeface="Courier New" pitchFamily="34" charset="-122"/>
                          <a:cs typeface="Courier New" pitchFamily="34" charset="-120"/>
                        </a:rPr>
                        <a:t>/api/stress-test</a:t>
                      </a:r>
                      <a:endParaRPr lang="en-US" sz="1000" dirty="0">
                        <a:latin typeface="Courier New" charset="0"/>
                        <a:ea typeface="Courier New" charset="0"/>
                        <a:cs typeface="Courier New" charset="0"/>
                      </a:endParaRPr>
                    </a:p>
                  </a:txBody>
                  <a:tcPr marL="64008" marR="64008"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photo → confidence vs blur, light, rotation, noise</a:t>
                      </a:r>
                      <a:endParaRPr lang="en-US" sz="1000" dirty="0">
                        <a:latin typeface="Calibri" charset="0"/>
                        <a:ea typeface="Calibri" charset="0"/>
                        <a:cs typeface="Calibri" charset="0"/>
                      </a:endParaRPr>
                    </a:p>
                  </a:txBody>
                  <a:tcPr marL="64008" marR="64008"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bg1"/>
                    </a:solidFill>
                  </a:tcPr>
                </a:tc>
              </a:tr>
              <a:tr h="384048">
                <a:tc>
                  <a:txBody>
                    <a:bodyPr/>
                    <a:lstStyle/>
                    <a:p>
                      <a:pPr indent="0" marL="0">
                        <a:buNone/>
                      </a:pPr>
                      <a:r>
                        <a:rPr lang="en-US" sz="1000" b="1" dirty="0">
                          <a:solidFill>
                            <a:schemeClr val="accent1"/>
                          </a:solidFill>
                          <a:latin typeface="Calibri" pitchFamily="34" charset="0"/>
                          <a:ea typeface="Calibri" pitchFamily="34" charset="-122"/>
                          <a:cs typeface="Calibri" pitchFamily="34" charset="-120"/>
                        </a:rPr>
                        <a:t>GET</a:t>
                      </a:r>
                      <a:endParaRPr lang="en-US" sz="1000" dirty="0">
                        <a:latin typeface="Calibri" charset="0"/>
                        <a:ea typeface="Calibri" charset="0"/>
                        <a:cs typeface="Calibri" charset="0"/>
                      </a:endParaRPr>
                    </a:p>
                  </a:txBody>
                  <a:tcPr marL="64008" marR="64008"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bg2"/>
                    </a:solidFill>
                  </a:tcPr>
                </a:tc>
                <a:tc>
                  <a:txBody>
                    <a:bodyPr/>
                    <a:lstStyle/>
                    <a:p>
                      <a:pPr indent="0" marL="0">
                        <a:buNone/>
                      </a:pPr>
                      <a:r>
                        <a:rPr lang="en-US" sz="1000" b="1" dirty="0">
                          <a:solidFill>
                            <a:schemeClr val="tx1"/>
                          </a:solidFill>
                          <a:latin typeface="Courier New" pitchFamily="34" charset="0"/>
                          <a:ea typeface="Courier New" pitchFamily="34" charset="-122"/>
                          <a:cs typeface="Courier New" pitchFamily="34" charset="-120"/>
                        </a:rPr>
                        <a:t>/api/models</a:t>
                      </a:r>
                      <a:endParaRPr lang="en-US" sz="1000" dirty="0">
                        <a:latin typeface="Courier New" charset="0"/>
                        <a:ea typeface="Courier New" charset="0"/>
                        <a:cs typeface="Courier New" charset="0"/>
                      </a:endParaRPr>
                    </a:p>
                  </a:txBody>
                  <a:tcPr marL="64008" marR="64008"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metrics JSON for Model Lab</a:t>
                      </a:r>
                      <a:endParaRPr lang="en-US" sz="1000" dirty="0">
                        <a:latin typeface="Calibri" charset="0"/>
                        <a:ea typeface="Calibri" charset="0"/>
                        <a:cs typeface="Calibri" charset="0"/>
                      </a:endParaRPr>
                    </a:p>
                  </a:txBody>
                  <a:tcPr marL="64008" marR="64008"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bg2"/>
                    </a:solidFill>
                  </a:tcPr>
                </a:tc>
              </a:tr>
              <a:tr h="384048">
                <a:tc>
                  <a:txBody>
                    <a:bodyPr/>
                    <a:lstStyle/>
                    <a:p>
                      <a:pPr indent="0" marL="0">
                        <a:buNone/>
                      </a:pPr>
                      <a:r>
                        <a:rPr lang="en-US" sz="1000" b="1" dirty="0">
                          <a:solidFill>
                            <a:schemeClr val="accent1"/>
                          </a:solidFill>
                          <a:latin typeface="Calibri" pitchFamily="34" charset="0"/>
                          <a:ea typeface="Calibri" pitchFamily="34" charset="-122"/>
                          <a:cs typeface="Calibri" pitchFamily="34" charset="-120"/>
                        </a:rPr>
                        <a:t>POST</a:t>
                      </a:r>
                      <a:endParaRPr lang="en-US" sz="1000" dirty="0">
                        <a:latin typeface="Calibri" charset="0"/>
                        <a:ea typeface="Calibri" charset="0"/>
                        <a:cs typeface="Calibri" charset="0"/>
                      </a:endParaRPr>
                    </a:p>
                  </a:txBody>
                  <a:tcPr marL="64008" marR="64008"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bg1"/>
                    </a:solidFill>
                  </a:tcPr>
                </a:tc>
                <a:tc>
                  <a:txBody>
                    <a:bodyPr/>
                    <a:lstStyle/>
                    <a:p>
                      <a:pPr indent="0" marL="0">
                        <a:buNone/>
                      </a:pPr>
                      <a:r>
                        <a:rPr lang="en-US" sz="1000" b="1" dirty="0">
                          <a:solidFill>
                            <a:schemeClr val="tx1"/>
                          </a:solidFill>
                          <a:latin typeface="Courier New" pitchFamily="34" charset="0"/>
                          <a:ea typeface="Courier New" pitchFamily="34" charset="-122"/>
                          <a:cs typeface="Courier New" pitchFamily="34" charset="-120"/>
                        </a:rPr>
                        <a:t>/api/feedback</a:t>
                      </a:r>
                      <a:endParaRPr lang="en-US" sz="1000" dirty="0">
                        <a:latin typeface="Courier New" charset="0"/>
                        <a:ea typeface="Courier New" charset="0"/>
                        <a:cs typeface="Courier New" charset="0"/>
                      </a:endParaRPr>
                    </a:p>
                  </a:txBody>
                  <a:tcPr marL="64008" marR="64008"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photo + correct label → saved for retraining</a:t>
                      </a:r>
                      <a:endParaRPr lang="en-US" sz="1000" dirty="0">
                        <a:latin typeface="Calibri" charset="0"/>
                        <a:ea typeface="Calibri" charset="0"/>
                        <a:cs typeface="Calibri" charset="0"/>
                      </a:endParaRPr>
                    </a:p>
                  </a:txBody>
                  <a:tcPr marL="64008" marR="64008" marT="27432" marB="27432" anchor="ctr">
                    <a:lnL w="6350" cap="flat" cmpd="sng" algn="ctr">
                      <a:solidFill>
                        <a:srgbClr val="D9DBE5"/>
                      </a:solidFill>
                      <a:prstDash val="solid"/>
                      <a:round/>
                      <a:headEnd type="none" w="med" len="med"/>
                      <a:tailEnd type="none" w="med" len="med"/>
                    </a:lnL>
                    <a:lnR w="6350" cap="flat" cmpd="sng" algn="ctr">
                      <a:solidFill>
                        <a:srgbClr val="D9DBE5"/>
                      </a:solidFill>
                      <a:prstDash val="solid"/>
                      <a:round/>
                      <a:headEnd type="none" w="med" len="med"/>
                      <a:tailEnd type="none" w="med" len="med"/>
                    </a:lnR>
                    <a:lnT w="6350" cap="flat" cmpd="sng" algn="ctr">
                      <a:solidFill>
                        <a:srgbClr val="D9DBE5"/>
                      </a:solidFill>
                      <a:prstDash val="solid"/>
                      <a:round/>
                      <a:headEnd type="none" w="med" len="med"/>
                      <a:tailEnd type="none" w="med" len="med"/>
                    </a:lnT>
                    <a:lnB w="6350" cap="flat" cmpd="sng" algn="ctr">
                      <a:solidFill>
                        <a:srgbClr val="D9DBE5"/>
                      </a:solidFill>
                      <a:prstDash val="solid"/>
                      <a:round/>
                      <a:headEnd type="none" w="med" len="med"/>
                      <a:tailEnd type="none" w="med" len="med"/>
                    </a:lnB>
                    <a:solidFill>
                      <a:schemeClr val="bg1"/>
                    </a:solidFill>
                  </a:tcPr>
                </a:tc>
              </a:tr>
            </a:tbl>
          </a:graphicData>
        </a:graphic>
      </p:graphicFrame>
      <p:sp>
        <p:nvSpPr>
          <p:cNvPr id="4" name="folder panel"/>
          <p:cNvSpPr/>
          <p:nvPr/>
        </p:nvSpPr>
        <p:spPr>
          <a:xfrm>
            <a:off x="5486400" y="1005840"/>
            <a:ext cx="3200400" cy="2743200"/>
          </a:xfrm>
          <a:prstGeom prst="roundRect">
            <a:avLst>
              <a:gd name="adj" fmla="val 2667"/>
            </a:avLst>
          </a:prstGeom>
          <a:solidFill>
            <a:schemeClr val="tx1"/>
          </a:solidFill>
          <a:ln/>
        </p:spPr>
      </p:sp>
      <p:sp>
        <p:nvSpPr>
          <p:cNvPr id="5" name="Text 2"/>
          <p:cNvSpPr txBox="1"/>
          <p:nvPr/>
        </p:nvSpPr>
        <p:spPr>
          <a:xfrm>
            <a:off x="5669280" y="1143000"/>
            <a:ext cx="2926080" cy="2468880"/>
          </a:xfrm>
          <a:prstGeom prst="rect">
            <a:avLst/>
          </a:prstGeom>
          <a:noFill/>
          <a:ln/>
        </p:spPr>
        <p:txBody>
          <a:bodyPr wrap="square" lIns="0" tIns="0" rIns="0" bIns="0" rtlCol="0" anchor="t"/>
          <a:lstStyle/>
          <a:p>
            <a:pPr indent="0" marL="0">
              <a:buNone/>
            </a:pPr>
            <a:r>
              <a:rPr lang="en-US" sz="1000" dirty="0">
                <a:solidFill>
                  <a:schemeClr val="bg1"/>
                </a:solidFill>
                <a:latin typeface="Courier New" pitchFamily="34" charset="0"/>
                <a:ea typeface="Courier New" pitchFamily="34" charset="-122"/>
                <a:cs typeface="Courier New" pitchFamily="34" charset="-120"/>
              </a:rPr>
              <a:t>pawlens/</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training/   notebook + scripts</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backend/</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 app/     FastAPI code</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 models/  .keras + metrics</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 feedback/</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frontend/   React + Vite</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README.md</a:t>
            </a:r>
            <a:endParaRPr lang="en-US" sz="1000" dirty="0"/>
          </a:p>
        </p:txBody>
      </p:sp>
      <p:sp>
        <p:nvSpPr>
          <p:cNvPr id="6" name="Text 3"/>
          <p:cNvSpPr txBox="1"/>
          <p:nvPr/>
        </p:nvSpPr>
        <p:spPr>
          <a:xfrm>
            <a:off x="457200" y="3886200"/>
            <a:ext cx="8229600" cy="685800"/>
          </a:xfrm>
          <a:prstGeom prst="rect">
            <a:avLst/>
          </a:prstGeom>
          <a:noFill/>
          <a:ln/>
        </p:spPr>
        <p:txBody>
          <a:bodyPr wrap="square" lIns="0" tIns="0" rIns="0" bIns="0" rtlCol="0" anchor="t"/>
          <a:lstStyle/>
          <a:p>
            <a:pPr indent="0" marL="0">
              <a:buNone/>
            </a:pPr>
            <a:r>
              <a:rPr lang="en-US" sz="1100" b="1" dirty="0">
                <a:solidFill>
                  <a:schemeClr val="accent1"/>
                </a:solidFill>
              </a:rPr>
              <a:t>Rules: </a:t>
            </a:r>
            <a:pPr indent="0" marL="0">
              <a:buNone/>
            </a:pPr>
            <a:r>
              <a:rPr lang="en-US" sz="1100" dirty="0">
                <a:solidFill>
                  <a:schemeClr val="tx1"/>
                </a:solidFill>
              </a:rPr>
              <a:t>models built with the Keras functional API (so Grad-CAM can reach the last conv layer) · 224 × 224 input · no hard-coded accuracy in the UI · demo mode with the ImageNet model if trained files are missing. Full details: PawLens_BUILD_SPEC.md</a:t>
            </a:r>
            <a:endParaRPr lang="en-US" sz="11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PawLens">
  <a:themeElements>
    <a:clrScheme name="PawLens">
      <a:dk1>
        <a:srgbClr val="1B1F3B"/>
      </a:dk1>
      <a:lt1>
        <a:srgbClr val="FFFFFF"/>
      </a:lt1>
      <a:dk2>
        <a:srgbClr val="4A4E69"/>
      </a:dk2>
      <a:lt2>
        <a:srgbClr val="F3F4F8"/>
      </a:lt2>
      <a:accent1>
        <a:srgbClr val="FF7A45"/>
      </a:accent1>
      <a:accent2>
        <a:srgbClr val="2EC4B6"/>
      </a:accent2>
      <a:accent3>
        <a:srgbClr val="9B5DE5"/>
      </a:accent3>
      <a:accent4>
        <a:srgbClr val="FFC857"/>
      </a:accent4>
      <a:accent5>
        <a:srgbClr val="E63946"/>
      </a:accent5>
      <a:accent6>
        <a:srgbClr val="3A86FF"/>
      </a:accent6>
      <a:hlink>
        <a:srgbClr val="3A86FF"/>
      </a:hlink>
      <a:folHlink>
        <a:srgbClr val="9B5DE5"/>
      </a:folHlink>
    </a:clrScheme>
    <a:fontScheme name="PawLen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PawLens — Project-II First Presentation</dc:title>
  <dc:subject>PptxGenJS Presentation</dc:subject>
  <dc:creator>Anushka Srivastava, Shikha Verma, Vidisha Arora</dc:creator>
  <cp:lastModifiedBy>Anushka Srivastava, Shikha Verma, Vidisha Arora</cp:lastModifiedBy>
  <cp:revision>1</cp:revision>
  <dcterms:created xsi:type="dcterms:W3CDTF">2026-10-27T16:51:52Z</dcterms:created>
  <dcterms:modified xsi:type="dcterms:W3CDTF">2026-10-27T16:51:52Z</dcterms:modified>
</cp:coreProperties>
</file>